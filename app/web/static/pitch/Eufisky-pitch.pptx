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8f5f87ea4c4337" /><Relationship Type="http://schemas.openxmlformats.org/officeDocument/2006/relationships/extended-properties" Target="/docProps/app.xml" Id="R70782b3731584a74" /><Relationship Type="http://schemas.openxmlformats.org/officeDocument/2006/relationships/officeDocument" Target="/ppt/presentation.xml" Id="Rf4a27f4c1c364ef7" /></Relationships>
</file>

<file path=ppt/presentation.xml><?xml version="1.0" encoding="utf-8"?>
<p:presentation xmlns:p="http://schemas.openxmlformats.org/presentationml/2006/main">
  <p:sldMasterIdLst>
    <p:sldMasterId xmlns:r="http://schemas.openxmlformats.org/officeDocument/2006/relationships" id="2147483648" r:id="R23f3fa2e9cbe4ddf"/>
  </p:sldMasterIdLst>
  <p:notesMasterIdLst>
    <p:notesMasterId xmlns:r="http://schemas.openxmlformats.org/officeDocument/2006/relationships" r:id="R0dc88c2ec364499a"/>
  </p:notesMasterIdLst>
  <p:sldIdLst>
    <p:sldId xmlns:r="http://schemas.openxmlformats.org/officeDocument/2006/relationships" id="256" r:id="Rdc53368dfb9b4e52"/>
    <p:sldId xmlns:r="http://schemas.openxmlformats.org/officeDocument/2006/relationships" id="257" r:id="R34d4c06a5f794739"/>
    <p:sldId xmlns:r="http://schemas.openxmlformats.org/officeDocument/2006/relationships" id="258" r:id="R9e79b8b76da34226"/>
    <p:sldId xmlns:r="http://schemas.openxmlformats.org/officeDocument/2006/relationships" id="259" r:id="Rdf6af8ab52c44908"/>
    <p:sldId xmlns:r="http://schemas.openxmlformats.org/officeDocument/2006/relationships" id="260" r:id="R5862a301b7f140ec"/>
    <p:sldId xmlns:r="http://schemas.openxmlformats.org/officeDocument/2006/relationships" id="261" r:id="R865a25e2aa4e487e"/>
    <p:sldId xmlns:r="http://schemas.openxmlformats.org/officeDocument/2006/relationships" id="262" r:id="R9e89e2de9cef4f83"/>
    <p:sldId xmlns:r="http://schemas.openxmlformats.org/officeDocument/2006/relationships" id="263" r:id="Rc860b21be5da4707"/>
    <p:sldId xmlns:r="http://schemas.openxmlformats.org/officeDocument/2006/relationships" id="264" r:id="R20e916c41cbe41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49c10d38e74687" /><Relationship Type="http://schemas.openxmlformats.org/officeDocument/2006/relationships/slideMaster" Target="/ppt/slideMasters/slideMaster1.xml" Id="R23f3fa2e9cbe4ddf" /><Relationship Type="http://schemas.openxmlformats.org/officeDocument/2006/relationships/notesMaster" Target="/ppt/notesMasters/notesMaster1.xml" Id="R0dc88c2ec364499a" /><Relationship Type="http://schemas.openxmlformats.org/officeDocument/2006/relationships/presProps" Target="/ppt/presProps.xml" Id="Rf8f9c8afb11244ee" /><Relationship Type="http://schemas.openxmlformats.org/officeDocument/2006/relationships/tableStyles" Target="/ppt/tableStyles.xml" Id="R998a8851f0ee4592" /><Relationship Type="http://schemas.openxmlformats.org/officeDocument/2006/relationships/slide" Target="/ppt/slides/slide1.xml" Id="Rdc53368dfb9b4e52" /><Relationship Type="http://schemas.openxmlformats.org/officeDocument/2006/relationships/slide" Target="/ppt/slides/slide2.xml" Id="R34d4c06a5f794739" /><Relationship Type="http://schemas.openxmlformats.org/officeDocument/2006/relationships/slide" Target="/ppt/slides/slide3.xml" Id="R9e79b8b76da34226" /><Relationship Type="http://schemas.openxmlformats.org/officeDocument/2006/relationships/slide" Target="/ppt/slides/slide4.xml" Id="Rdf6af8ab52c44908" /><Relationship Type="http://schemas.openxmlformats.org/officeDocument/2006/relationships/slide" Target="/ppt/slides/slide5.xml" Id="R5862a301b7f140ec" /><Relationship Type="http://schemas.openxmlformats.org/officeDocument/2006/relationships/slide" Target="/ppt/slides/slide6.xml" Id="R865a25e2aa4e487e" /><Relationship Type="http://schemas.openxmlformats.org/officeDocument/2006/relationships/slide" Target="/ppt/slides/slide7.xml" Id="R9e89e2de9cef4f83" /><Relationship Type="http://schemas.openxmlformats.org/officeDocument/2006/relationships/slide" Target="/ppt/slides/slide8.xml" Id="Rc860b21be5da4707" /><Relationship Type="http://schemas.openxmlformats.org/officeDocument/2006/relationships/slide" Target="/ppt/slides/slide9.xml" Id="R20e916c41cbe41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3bcc200f2444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1be89833974ff2" /><Relationship Type="http://schemas.openxmlformats.org/officeDocument/2006/relationships/notesMaster" Target="/ppt/notesMasters/notesMaster1.xml" Id="R69b17f9a0b264b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114ad0dd35400e" /><Relationship Type="http://schemas.openxmlformats.org/officeDocument/2006/relationships/notesMaster" Target="/ppt/notesMasters/notesMaster1.xml" Id="Rc32b316b34bf4e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66b4b8174f4be0" /><Relationship Type="http://schemas.openxmlformats.org/officeDocument/2006/relationships/notesMaster" Target="/ppt/notesMasters/notesMaster1.xml" Id="Ra50cfbb1509544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465c33bca1410e" /><Relationship Type="http://schemas.openxmlformats.org/officeDocument/2006/relationships/notesMaster" Target="/ppt/notesMasters/notesMaster1.xml" Id="R43337283d35e4e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72e947f41c4abf" /><Relationship Type="http://schemas.openxmlformats.org/officeDocument/2006/relationships/notesMaster" Target="/ppt/notesMasters/notesMaster1.xml" Id="Re5136051efed42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2ea49b93d140d4" /><Relationship Type="http://schemas.openxmlformats.org/officeDocument/2006/relationships/notesMaster" Target="/ppt/notesMasters/notesMaster1.xml" Id="R0c021f819b4444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3383012edc474a" /><Relationship Type="http://schemas.openxmlformats.org/officeDocument/2006/relationships/notesMaster" Target="/ppt/notesMasters/notesMaster1.xml" Id="R0854ff3803dc44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2d2879b3974c2a" /><Relationship Type="http://schemas.openxmlformats.org/officeDocument/2006/relationships/notesMaster" Target="/ppt/notesMasters/notesMaster1.xml" Id="R9d393530d6a44f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390a27414743ba" /><Relationship Type="http://schemas.openxmlformats.org/officeDocument/2006/relationships/notesMaster" Target="/ppt/notesMasters/notesMaster1.xml" Id="R4a3555c6864544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Eufisky is a voice agent that helps an older adult handle risky calls. It screens unknown callers and can pause a conversation for private support. This is a browser phone simulation built on AssemblyAI. Team Eufisky. Artwork: existing project favicon, app/web/static/favicon.svg, rasterized without design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0:15-0:35. Adults aged 60 and older reported nearly 2.4 billion dollars in fraud losses in 2024. This figure covers all fraud, not just phone scams. Our illustrative scenario is an older adult facing an urgent Medicare impersonation call. Eufisky helps at the point where a stranger asks for private details. Source: FTC, Protecting Older Consumers 2024-2025, December 2025, https://www.ftc.gov/system/files/ftc_gov/pdf/P144400-OlderAdultsReportDec2025.pdf. Scenario is fictional, not a customer testimonial.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0:35-0:55. This screenshot comes from the prerecorded Replay scenario in the deployed browser app. Risk reaches 76 after the caller creates urgency and requests Medicare and bank details. The state changes to Guardian. The caller stays on hold while the senior receives private help. Replay illustrates the policy and interface, not a live microphone session. Source: deployed Eufisky dashboard, recorded project Replay, work/video/qa-40.png.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0:55-1:15. Trusted contacts ring directly and bypass transcription and recording. Unknown callers meet Front Door. Connected unknown calls use separate caller and senior streaming sessions. Our deterministic policy scores speaker-specific evidence with decay. A private nudge starts at 40. Guardian holds the caller at 65, or earlier for defined sensitive disclosure/compliance rules. At 90 it recommends family support. Risk scores are heuristic thresholds, not probabilities. Source: docs/ARCHITECTURE.md, app/session/state_machine.py, app/rules/engine.py, current 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1:15-1:40. AssemblyAI powers voice screening and Guardian through its Voice Agent API, and separate Universal Streaming sessions for caller and senior. Keyterms include benign call vocabulary as well as names and scam phrases. The risk engine consumes finalized words. After microphone calls, batch transcription requests PII redaction for text and audio. The current LLM Gateway generates the incident summary with a deterministic template fallback. Typed calls use local numeric masking and have no microphone recording. Source: app/agent/voice_agent_backend.py, app/stt/assemblyai_stream.py, app/postcall/pipeline.py, current main. Per-leg labels do not depend on diarization.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1:40-2:00. The senior can resume the call, invite family, end the call or trust the caller. The caller remains held during a private family conference. Trusted calls bypass monitoring. Incident actions and outcomes come from persisted call events, so the summary reflects what actually happened. This screenshot is a preloaded sample report from Replay, not a report generated by a live call during this presentation. Source: app/phone/calls.py, app/postcall/pipeline.py, work/video/sample-report.png.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2:00-2:20. We fixed fractional sample loss, PCM playback gaps, stale interrupted output and early hangup. The hosted browser integration check sent 130 valid 100-millisecond frames and received 5.4 seconds of provider audio without browser exceptions. The same synthetic recording now recognizes pharmacy delivery correctly. An unfamiliar name still joins two words. 89 Python tests and 4 dependency-free JavaScript audio checks pass. These are engineering checks, not a recognition accuracy or false-positive benchmark. Source: STATE.md voice reliability update, docs/HUMAN_TASKS.md deployment checks, commits d36f679, f59308a and fb63c23, work/voice-qa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2:20-2:40. The initial buyer hypothesis is an adult child supporting a parent. A family subscription at 9 to 15 dollars per month is a hypothesis, not a live price or validated willingness to pay. The first pilot should measure recognition across accents and noise, false alarms on benign calls, response timing and user acceptance of private intervention. Real telephone integration and caller identity verification are needed before a carrier pilot. Telcos and senior-living operators are possible later distribution partners. Source: docs/BUSINESS.md, docs/TELEPHONY_ROADMAP.md, STATE.md. No paying customers or signed partnerships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2:40-3:00. Open eufisky.onrender.com. Select Try judge Replay for an isolated saved scenario, or start a new phone session for microphone use. The app is a browser simulation. The repository is public, and real carrier routing is a next step. Close: Eufisky helps families support an older adult during a risky call while preserving the senior’s choice. Sources: https://eufisky.onrender.com/, https://github.com/adib-cyber007/Eufisky. Event: https://lablab.ai/ai-hackathons/assemblyai-voice-agent-hackathon, September 1-30,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fc42fec2e346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f2597da97543e7" /><Relationship Type="http://schemas.openxmlformats.org/officeDocument/2006/relationships/slideLayout" Target="/ppt/slideLayouts/slideLayout1.xml" Id="R53713e0215244d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713e0215244d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bf1cdf4ad14a73" /><Relationship Type="http://schemas.openxmlformats.org/officeDocument/2006/relationships/image" Target="/ppt/media/image.png" Id="R19d0b34a1a2843c9" /><Relationship Type="http://schemas.openxmlformats.org/officeDocument/2006/relationships/notesSlide" Target="/ppt/notesSlides/notesSlide1.xml" Id="R589061ba7e564e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c010db6b9e472f" /><Relationship Type="http://schemas.openxmlformats.org/officeDocument/2006/relationships/notesSlide" Target="/ppt/notesSlides/notesSlide2.xml" Id="Rba9c870e89f742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ac2a6968d04aed" /><Relationship Type="http://schemas.openxmlformats.org/officeDocument/2006/relationships/image" Target="/ppt/media/image2.png" Id="R9fd71fadb46c4cf6" /><Relationship Type="http://schemas.openxmlformats.org/officeDocument/2006/relationships/notesSlide" Target="/ppt/notesSlides/notesSlide3.xml" Id="Rae5679dacae540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0358ae0ce114c65" /><Relationship Type="http://schemas.openxmlformats.org/officeDocument/2006/relationships/notesSlide" Target="/ppt/notesSlides/notesSlide4.xml" Id="R3f199d54d17348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e936a41d77477d" /><Relationship Type="http://schemas.openxmlformats.org/officeDocument/2006/relationships/notesSlide" Target="/ppt/notesSlides/notesSlide5.xml" Id="R768378df4aff42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1b044af3e9a49a7" /><Relationship Type="http://schemas.openxmlformats.org/officeDocument/2006/relationships/image" Target="/ppt/media/image3.png" Id="Rcd3f3b70fc2b425b" /><Relationship Type="http://schemas.openxmlformats.org/officeDocument/2006/relationships/notesSlide" Target="/ppt/notesSlides/notesSlide6.xml" Id="R18e972aa57174e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a7239c4a3624f85" /><Relationship Type="http://schemas.openxmlformats.org/officeDocument/2006/relationships/notesSlide" Target="/ppt/notesSlides/notesSlide7.xml" Id="Rc5441381805f40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6f149e68fe340d2" /><Relationship Type="http://schemas.openxmlformats.org/officeDocument/2006/relationships/notesSlide" Target="/ppt/notesSlides/notesSlide8.xml" Id="Rc2ffefcf2cc042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d8eb65dfe354b8e" /><Relationship Type="http://schemas.openxmlformats.org/officeDocument/2006/relationships/notesSlide" Target="/ppt/notesSlides/notesSlide9.xml" Id="Raba03bbd9ecb4fcf" /></Relationships>
</file>

<file path=ppt/slides/slide1.xml><?xml version="1.0" encoding="utf-8"?>
<p:sld xmlns:p="http://schemas.openxmlformats.org/presentationml/2006/main">
  <p:cSld>
    <p:bg>
      <p:bgPr>
        <a:solidFill xmlns:a="http://schemas.openxmlformats.org/drawingml/2006/main">
          <a:srgbClr val="0B17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A0ED40-783C-4883-83F0-FEEAE49121E8}"/>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7F2E8"/>
                </a:solidFill>
                <a:latin typeface="Arial"/>
                <a:ea typeface="Arial"/>
                <a:cs typeface="Arial"/>
              </a:defRPr>
            </a:pPr>
            <a:r>
              <a:rPr sz="3600" b="1">
                <a:solidFill>
                  <a:srgbClr val="F7F2E8"/>
                </a:solidFill>
                <a:latin typeface="Arial"/>
                <a:ea typeface="Arial"/>
                <a:cs typeface="Arial"/>
              </a:rPr>
              <a:t>Eufisky</a:t>
            </a:r>
          </a:p>
        </p:txBody>
      </p:sp>
      <p:sp>
        <p:nvSpPr>
          <p:cNvPr id="2" name="">
            <a:extLst xmlns:a="http://schemas.openxmlformats.org/drawingml/2006/main">
              <a:ext uri="{FF2B5EF4-FFF2-40B4-BE49-F238E27FC236}">
                <a16:creationId xmlns:a16="http://schemas.microsoft.com/office/drawing/2014/main" id="{E71E12D2-09AB-4E6D-8A92-2CA8D11DB8DB}"/>
              </a:ext>
            </a:extLst>
          </p:cNvPr>
          <p:cNvSpPr>
            <a:spLocks xmlns:a="http://schemas.openxmlformats.org/drawingml/2006/main" noGrp="1"/>
          </p:cNvSpPr>
          <p:nvPr/>
        </p:nvSpPr>
        <p:spPr>
          <a:xfrm xmlns:a="http://schemas.openxmlformats.org/drawingml/2006/main">
            <a:off x="111442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9B8CA"/>
                </a:solidFill>
                <a:latin typeface="Arial"/>
                <a:ea typeface="Arial"/>
                <a:cs typeface="Arial"/>
              </a:defRPr>
            </a:pPr>
            <a:r>
              <a:rPr sz="1200" b="0">
                <a:solidFill>
                  <a:srgbClr val="A9B8C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9d0b34a1a2843c9"/>
          <a:stretch xmlns:a="http://schemas.openxmlformats.org/drawingml/2006/main"/>
        </p:blipFill>
        <p:spPr>
          <a:xfrm xmlns:a="http://schemas.openxmlformats.org/drawingml/2006/main">
            <a:off x="9334500" y="2238375"/>
            <a:ext cx="2190750" cy="2190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1702D8-B8E8-45D8-855D-1E9AE06E35E8}"/>
              </a:ext>
            </a:extLst>
          </p:cNvPr>
          <p:cNvSpPr>
            <a:spLocks xmlns:a="http://schemas.openxmlformats.org/drawingml/2006/main" noGrp="1"/>
          </p:cNvSpPr>
          <p:nvPr/>
        </p:nvSpPr>
        <p:spPr>
          <a:xfrm xmlns:a="http://schemas.openxmlformats.org/drawingml/2006/main">
            <a:off x="609600" y="2076450"/>
            <a:ext cx="7048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7F2E8"/>
                </a:solidFill>
                <a:latin typeface="Arial"/>
                <a:ea typeface="Arial"/>
                <a:cs typeface="Arial"/>
              </a:defRPr>
            </a:pPr>
            <a:r>
              <a:rPr sz="4800" b="1">
                <a:solidFill>
                  <a:srgbClr val="F7F2E8"/>
                </a:solidFill>
                <a:latin typeface="Arial"/>
                <a:ea typeface="Arial"/>
                <a:cs typeface="Arial"/>
              </a:rPr>
              <a:t>Private help during</a:t>
            </a:r>
          </a:p>
          <a:p xmlns:a="http://schemas.openxmlformats.org/drawingml/2006/main">
            <a:pPr>
              <a:defRPr sz="4800" b="1">
                <a:solidFill>
                  <a:srgbClr val="F7F2E8"/>
                </a:solidFill>
                <a:latin typeface="Arial"/>
                <a:ea typeface="Arial"/>
                <a:cs typeface="Arial"/>
              </a:defRPr>
            </a:pPr>
            <a:r>
              <a:rPr sz="4800" b="1">
                <a:solidFill>
                  <a:srgbClr val="F7F2E8"/>
                </a:solidFill>
                <a:latin typeface="Arial"/>
                <a:ea typeface="Arial"/>
                <a:cs typeface="Arial"/>
              </a:rPr>
              <a:t>a risky phone call.</a:t>
            </a:r>
          </a:p>
        </p:txBody>
      </p:sp>
      <p:sp>
        <p:nvSpPr>
          <p:cNvPr id="5" name="">
            <a:extLst xmlns:a="http://schemas.openxmlformats.org/drawingml/2006/main">
              <a:ext uri="{FF2B5EF4-FFF2-40B4-BE49-F238E27FC236}">
                <a16:creationId xmlns:a16="http://schemas.microsoft.com/office/drawing/2014/main" id="{402B79DA-4778-4FB0-9B82-06BC7A3C9BD8}"/>
              </a:ext>
            </a:extLst>
          </p:cNvPr>
          <p:cNvSpPr>
            <a:spLocks xmlns:a="http://schemas.openxmlformats.org/drawingml/2006/main" noGrp="1"/>
          </p:cNvSpPr>
          <p:nvPr/>
        </p:nvSpPr>
        <p:spPr>
          <a:xfrm xmlns:a="http://schemas.openxmlformats.org/drawingml/2006/main">
            <a:off x="609600" y="4191000"/>
            <a:ext cx="685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9B8CA"/>
                </a:solidFill>
                <a:latin typeface="Arial"/>
                <a:ea typeface="Arial"/>
                <a:cs typeface="Arial"/>
              </a:defRPr>
            </a:pPr>
            <a:r>
              <a:rPr sz="2175" b="0">
                <a:solidFill>
                  <a:srgbClr val="A9B8CA"/>
                </a:solidFill>
                <a:latin typeface="Arial"/>
                <a:ea typeface="Arial"/>
                <a:cs typeface="Arial"/>
              </a:rPr>
              <a:t>A voice agent for older adults and their families</a:t>
            </a:r>
          </a:p>
        </p:txBody>
      </p:sp>
      <p:sp>
        <p:nvSpPr>
          <p:cNvPr id="6" name="">
            <a:extLst xmlns:a="http://schemas.openxmlformats.org/drawingml/2006/main">
              <a:ext uri="{FF2B5EF4-FFF2-40B4-BE49-F238E27FC236}">
                <a16:creationId xmlns:a16="http://schemas.microsoft.com/office/drawing/2014/main" id="{0F19937D-EA3A-4790-AD71-AF040F63192E}"/>
              </a:ext>
            </a:extLst>
          </p:cNvPr>
          <p:cNvSpPr>
            <a:spLocks xmlns:a="http://schemas.openxmlformats.org/drawingml/2006/main" noGrp="1"/>
          </p:cNvSpPr>
          <p:nvPr/>
        </p:nvSpPr>
        <p:spPr>
          <a:xfrm xmlns:a="http://schemas.openxmlformats.org/drawingml/2006/main">
            <a:off x="609600" y="5467350"/>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2C763"/>
                </a:solidFill>
                <a:latin typeface="Arial"/>
                <a:ea typeface="Arial"/>
                <a:cs typeface="Arial"/>
              </a:defRPr>
            </a:pPr>
            <a:r>
              <a:rPr sz="1950" b="1">
                <a:solidFill>
                  <a:srgbClr val="F2C763"/>
                </a:solidFill>
                <a:latin typeface="Arial"/>
                <a:ea typeface="Arial"/>
                <a:cs typeface="Arial"/>
              </a:rPr>
              <a:t>Built on AssemblyAI</a:t>
            </a:r>
          </a:p>
        </p:txBody>
      </p:sp>
    </p:spTree>
    <p:extLst>
      <p:ext uri="{BB962C8B-B14F-4D97-AF65-F5344CB8AC3E}">
        <p14:creationId xmlns:p14="http://schemas.microsoft.com/office/powerpoint/2010/main" val="695938282"/>
      </p:ext>
    </p:extLst>
  </p:cSld>
</p:sld>
</file>

<file path=ppt/slides/slide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92E0F0-FFCB-493E-9493-F2BF22AF1A7D}"/>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0213A"/>
                </a:solidFill>
                <a:latin typeface="Arial"/>
                <a:ea typeface="Arial"/>
                <a:cs typeface="Arial"/>
              </a:defRPr>
            </a:pPr>
            <a:r>
              <a:rPr sz="3600" b="1">
                <a:solidFill>
                  <a:srgbClr val="10213A"/>
                </a:solidFill>
                <a:latin typeface="Arial"/>
                <a:ea typeface="Arial"/>
                <a:cs typeface="Arial"/>
              </a:rPr>
              <a:t>The risk inside the conversation</a:t>
            </a:r>
          </a:p>
        </p:txBody>
      </p:sp>
      <p:sp>
        <p:nvSpPr>
          <p:cNvPr id="2" name="">
            <a:extLst xmlns:a="http://schemas.openxmlformats.org/drawingml/2006/main">
              <a:ext uri="{FF2B5EF4-FFF2-40B4-BE49-F238E27FC236}">
                <a16:creationId xmlns:a16="http://schemas.microsoft.com/office/drawing/2014/main" id="{72B1698E-38EB-4C06-A0DF-9525FE3C290A}"/>
              </a:ext>
            </a:extLst>
          </p:cNvPr>
          <p:cNvSpPr>
            <a:spLocks xmlns:a="http://schemas.openxmlformats.org/drawingml/2006/main" noGrp="1"/>
          </p:cNvSpPr>
          <p:nvPr/>
        </p:nvSpPr>
        <p:spPr>
          <a:xfrm xmlns:a="http://schemas.openxmlformats.org/drawingml/2006/main">
            <a:off x="111442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279"/>
                </a:solidFill>
                <a:latin typeface="Arial"/>
                <a:ea typeface="Arial"/>
                <a:cs typeface="Arial"/>
              </a:defRPr>
            </a:pPr>
            <a:r>
              <a:rPr sz="1200" b="0">
                <a:solidFill>
                  <a:srgbClr val="526279"/>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E665E49B-EB80-4298-991B-5F13931F846E}"/>
              </a:ext>
            </a:extLst>
          </p:cNvPr>
          <p:cNvSpPr>
            <a:spLocks xmlns:a="http://schemas.openxmlformats.org/drawingml/2006/main" noGrp="1"/>
          </p:cNvSpPr>
          <p:nvPr/>
        </p:nvSpPr>
        <p:spPr>
          <a:xfrm xmlns:a="http://schemas.openxmlformats.org/drawingml/2006/main">
            <a:off x="609600" y="1809750"/>
            <a:ext cx="5476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0" b="1">
                <a:solidFill>
                  <a:srgbClr val="ED7657"/>
                </a:solidFill>
                <a:latin typeface="Arial"/>
                <a:ea typeface="Arial"/>
                <a:cs typeface="Arial"/>
              </a:defRPr>
            </a:pPr>
            <a:r>
              <a:rPr sz="9000" b="1">
                <a:solidFill>
                  <a:srgbClr val="ED7657"/>
                </a:solidFill>
                <a:latin typeface="Arial"/>
                <a:ea typeface="Arial"/>
                <a:cs typeface="Arial"/>
              </a:rPr>
              <a:t>$2.4B</a:t>
            </a:r>
          </a:p>
        </p:txBody>
      </p:sp>
      <p:sp>
        <p:nvSpPr>
          <p:cNvPr id="4" name="">
            <a:extLst xmlns:a="http://schemas.openxmlformats.org/drawingml/2006/main">
              <a:ext uri="{FF2B5EF4-FFF2-40B4-BE49-F238E27FC236}">
                <a16:creationId xmlns:a16="http://schemas.microsoft.com/office/drawing/2014/main" id="{7416D73C-4E78-497C-9F4F-714954189B0F}"/>
              </a:ext>
            </a:extLst>
          </p:cNvPr>
          <p:cNvSpPr>
            <a:spLocks xmlns:a="http://schemas.openxmlformats.org/drawingml/2006/main" noGrp="1"/>
          </p:cNvSpPr>
          <p:nvPr/>
        </p:nvSpPr>
        <p:spPr>
          <a:xfrm xmlns:a="http://schemas.openxmlformats.org/drawingml/2006/main">
            <a:off x="647700" y="3448050"/>
            <a:ext cx="495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0213A"/>
                </a:solidFill>
                <a:latin typeface="Arial"/>
                <a:ea typeface="Arial"/>
                <a:cs typeface="Arial"/>
              </a:defRPr>
            </a:pPr>
            <a:r>
              <a:rPr sz="2250" b="0">
                <a:solidFill>
                  <a:srgbClr val="10213A"/>
                </a:solidFill>
                <a:latin typeface="Arial"/>
                <a:ea typeface="Arial"/>
                <a:cs typeface="Arial"/>
              </a:rPr>
              <a:t>Reported fraud losses in 2024</a:t>
            </a:r>
          </a:p>
          <a:p xmlns:a="http://schemas.openxmlformats.org/drawingml/2006/main">
            <a:pPr>
              <a:defRPr sz="2250" b="0">
                <a:solidFill>
                  <a:srgbClr val="10213A"/>
                </a:solidFill>
                <a:latin typeface="Arial"/>
                <a:ea typeface="Arial"/>
                <a:cs typeface="Arial"/>
              </a:defRPr>
            </a:pPr>
            <a:r>
              <a:rPr sz="2250" b="0">
                <a:solidFill>
                  <a:srgbClr val="10213A"/>
                </a:solidFill>
                <a:latin typeface="Arial"/>
                <a:ea typeface="Arial"/>
                <a:cs typeface="Arial"/>
              </a:rPr>
              <a:t>Adults aged 60 and older</a:t>
            </a:r>
          </a:p>
        </p:txBody>
      </p:sp>
      <p:sp>
        <p:nvSpPr>
          <p:cNvPr id="5" name="">
            <a:extLst xmlns:a="http://schemas.openxmlformats.org/drawingml/2006/main">
              <a:ext uri="{FF2B5EF4-FFF2-40B4-BE49-F238E27FC236}">
                <a16:creationId xmlns:a16="http://schemas.microsoft.com/office/drawing/2014/main" id="{71EC098A-16C3-452D-A226-D37123FF4F33}"/>
              </a:ext>
            </a:extLst>
          </p:cNvPr>
          <p:cNvSpPr>
            <a:spLocks xmlns:a="http://schemas.openxmlformats.org/drawingml/2006/main" noGrp="1"/>
          </p:cNvSpPr>
          <p:nvPr/>
        </p:nvSpPr>
        <p:spPr>
          <a:xfrm xmlns:a="http://schemas.openxmlformats.org/drawingml/2006/main">
            <a:off x="6477000" y="2114550"/>
            <a:ext cx="49053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0213A"/>
                </a:solidFill>
                <a:latin typeface="Arial"/>
                <a:ea typeface="Arial"/>
                <a:cs typeface="Arial"/>
              </a:defRPr>
            </a:pPr>
            <a:r>
              <a:rPr sz="2850" b="1">
                <a:solidFill>
                  <a:srgbClr val="10213A"/>
                </a:solidFill>
                <a:latin typeface="Arial"/>
                <a:ea typeface="Arial"/>
                <a:cs typeface="Arial"/>
              </a:rPr>
              <a:t>“Your benefits end today.</a:t>
            </a:r>
          </a:p>
          <a:p xmlns:a="http://schemas.openxmlformats.org/drawingml/2006/main">
            <a:pPr>
              <a:defRPr sz="2850" b="1">
                <a:solidFill>
                  <a:srgbClr val="10213A"/>
                </a:solidFill>
                <a:latin typeface="Arial"/>
                <a:ea typeface="Arial"/>
                <a:cs typeface="Arial"/>
              </a:defRPr>
            </a:pPr>
            <a:r>
              <a:rPr sz="2850" b="1">
                <a:solidFill>
                  <a:srgbClr val="10213A"/>
                </a:solidFill>
                <a:latin typeface="Arial"/>
                <a:ea typeface="Arial"/>
                <a:cs typeface="Arial"/>
              </a:rPr>
              <a:t>Read me the number</a:t>
            </a:r>
          </a:p>
          <a:p xmlns:a="http://schemas.openxmlformats.org/drawingml/2006/main">
            <a:pPr>
              <a:defRPr sz="2850" b="1">
                <a:solidFill>
                  <a:srgbClr val="10213A"/>
                </a:solidFill>
                <a:latin typeface="Arial"/>
                <a:ea typeface="Arial"/>
                <a:cs typeface="Arial"/>
              </a:defRPr>
            </a:pPr>
            <a:r>
              <a:rPr sz="2850" b="1">
                <a:solidFill>
                  <a:srgbClr val="10213A"/>
                </a:solidFill>
                <a:latin typeface="Arial"/>
                <a:ea typeface="Arial"/>
                <a:cs typeface="Arial"/>
              </a:rPr>
              <a:t>on your Medicare card.”</a:t>
            </a:r>
          </a:p>
        </p:txBody>
      </p:sp>
      <p:sp>
        <p:nvSpPr>
          <p:cNvPr id="6" name="">
            <a:extLst xmlns:a="http://schemas.openxmlformats.org/drawingml/2006/main">
              <a:ext uri="{FF2B5EF4-FFF2-40B4-BE49-F238E27FC236}">
                <a16:creationId xmlns:a16="http://schemas.microsoft.com/office/drawing/2014/main" id="{A8CBBA90-16F2-4749-972C-BCBA58C3AB41}"/>
              </a:ext>
            </a:extLst>
          </p:cNvPr>
          <p:cNvSpPr>
            <a:spLocks xmlns:a="http://schemas.openxmlformats.org/drawingml/2006/main" noGrp="1"/>
          </p:cNvSpPr>
          <p:nvPr/>
        </p:nvSpPr>
        <p:spPr>
          <a:xfrm xmlns:a="http://schemas.openxmlformats.org/drawingml/2006/main">
            <a:off x="6477000" y="44386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279"/>
                </a:solidFill>
                <a:latin typeface="Arial"/>
                <a:ea typeface="Arial"/>
                <a:cs typeface="Arial"/>
              </a:defRPr>
            </a:pPr>
            <a:r>
              <a:rPr sz="1800" b="0">
                <a:solidFill>
                  <a:srgbClr val="526279"/>
                </a:solidFill>
                <a:latin typeface="Arial"/>
                <a:ea typeface="Arial"/>
                <a:cs typeface="Arial"/>
              </a:rPr>
              <a:t>An illustrative scam call</a:t>
            </a:r>
          </a:p>
        </p:txBody>
      </p:sp>
      <p:sp>
        <p:nvSpPr>
          <p:cNvPr id="7" name="">
            <a:extLst xmlns:a="http://schemas.openxmlformats.org/drawingml/2006/main">
              <a:ext uri="{FF2B5EF4-FFF2-40B4-BE49-F238E27FC236}">
                <a16:creationId xmlns:a16="http://schemas.microsoft.com/office/drawing/2014/main" id="{572AFC65-9B90-4C29-AF3E-FA412A53B2D6}"/>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279"/>
                </a:solidFill>
                <a:latin typeface="Arial"/>
                <a:ea typeface="Arial"/>
                <a:cs typeface="Arial"/>
              </a:defRPr>
            </a:pPr>
            <a:r>
              <a:rPr sz="1350" b="0">
                <a:solidFill>
                  <a:srgbClr val="526279"/>
                </a:solidFill>
                <a:latin typeface="Arial"/>
                <a:ea typeface="Arial"/>
                <a:cs typeface="Arial"/>
              </a:rPr>
              <a:t>Source: FTC, Protecting Older Consumers (Dec 2025). All fraud, not only phone scams.</a:t>
            </a:r>
          </a:p>
        </p:txBody>
      </p:sp>
    </p:spTree>
    <p:extLst>
      <p:ext uri="{BB962C8B-B14F-4D97-AF65-F5344CB8AC3E}">
        <p14:creationId xmlns:p14="http://schemas.microsoft.com/office/powerpoint/2010/main" val="1316378197"/>
      </p:ext>
    </p:extLst>
  </p:cSld>
</p:sld>
</file>

<file path=ppt/slides/slide3.xml><?xml version="1.0" encoding="utf-8"?>
<p:sld xmlns:p="http://schemas.openxmlformats.org/presentationml/2006/main">
  <p:cSld>
    <p:bg>
      <p:bgPr>
        <a:solidFill xmlns:a="http://schemas.openxmlformats.org/drawingml/2006/main">
          <a:srgbClr val="0B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C15802-58C9-48C6-9B7B-7C2E445E4BA9}"/>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7F2E8"/>
                </a:solidFill>
                <a:latin typeface="Arial"/>
                <a:ea typeface="Arial"/>
                <a:cs typeface="Arial"/>
              </a:defRPr>
            </a:pPr>
            <a:r>
              <a:rPr sz="3600" b="1">
                <a:solidFill>
                  <a:srgbClr val="F7F2E8"/>
                </a:solidFill>
                <a:latin typeface="Arial"/>
                <a:ea typeface="Arial"/>
                <a:cs typeface="Arial"/>
              </a:rPr>
              <a:t>Guardian pauses the caller</a:t>
            </a:r>
          </a:p>
        </p:txBody>
      </p:sp>
      <p:sp>
        <p:nvSpPr>
          <p:cNvPr id="2" name="">
            <a:extLst xmlns:a="http://schemas.openxmlformats.org/drawingml/2006/main">
              <a:ext uri="{FF2B5EF4-FFF2-40B4-BE49-F238E27FC236}">
                <a16:creationId xmlns:a16="http://schemas.microsoft.com/office/drawing/2014/main" id="{9325E410-B9DE-44BE-9F52-24FAC5035E50}"/>
              </a:ext>
            </a:extLst>
          </p:cNvPr>
          <p:cNvSpPr>
            <a:spLocks xmlns:a="http://schemas.openxmlformats.org/drawingml/2006/main" noGrp="1"/>
          </p:cNvSpPr>
          <p:nvPr/>
        </p:nvSpPr>
        <p:spPr>
          <a:xfrm xmlns:a="http://schemas.openxmlformats.org/drawingml/2006/main">
            <a:off x="111442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9B8CA"/>
                </a:solidFill>
                <a:latin typeface="Arial"/>
                <a:ea typeface="Arial"/>
                <a:cs typeface="Arial"/>
              </a:defRPr>
            </a:pPr>
            <a:r>
              <a:rPr sz="1200" b="0">
                <a:solidFill>
                  <a:srgbClr val="A9B8CA"/>
                </a:solidFill>
                <a:latin typeface="Arial"/>
                <a:ea typeface="Arial"/>
                <a:cs typeface="Arial"/>
              </a:rPr>
              <a:t>03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fd71fadb46c4cf6"/>
          <a:stretch xmlns:a="http://schemas.openxmlformats.org/drawingml/2006/main"/>
        </p:blipFill>
        <p:spPr>
          <a:xfrm xmlns:a="http://schemas.openxmlformats.org/drawingml/2006/main">
            <a:off x="4419600" y="1714500"/>
            <a:ext cx="7162800" cy="40290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446227A-3D77-4E95-8AEE-628F696DBA86}"/>
              </a:ext>
            </a:extLst>
          </p:cNvPr>
          <p:cNvSpPr>
            <a:spLocks xmlns:a="http://schemas.openxmlformats.org/drawingml/2006/main" noGrp="1"/>
          </p:cNvSpPr>
          <p:nvPr/>
        </p:nvSpPr>
        <p:spPr>
          <a:xfrm xmlns:a="http://schemas.openxmlformats.org/drawingml/2006/main">
            <a:off x="609600" y="1876425"/>
            <a:ext cx="34099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2C763"/>
                </a:solidFill>
                <a:latin typeface="Arial"/>
                <a:ea typeface="Arial"/>
                <a:cs typeface="Arial"/>
              </a:defRPr>
            </a:pPr>
            <a:r>
              <a:rPr sz="4650" b="1">
                <a:solidFill>
                  <a:srgbClr val="F2C763"/>
                </a:solidFill>
                <a:latin typeface="Arial"/>
                <a:ea typeface="Arial"/>
                <a:cs typeface="Arial"/>
              </a:rPr>
              <a:t>76 / 100</a:t>
            </a:r>
          </a:p>
        </p:txBody>
      </p:sp>
      <p:sp>
        <p:nvSpPr>
          <p:cNvPr id="5" name="">
            <a:extLst xmlns:a="http://schemas.openxmlformats.org/drawingml/2006/main">
              <a:ext uri="{FF2B5EF4-FFF2-40B4-BE49-F238E27FC236}">
                <a16:creationId xmlns:a16="http://schemas.microsoft.com/office/drawing/2014/main" id="{8737A5C8-CCAF-456A-9DBC-551F290E3C72}"/>
              </a:ext>
            </a:extLst>
          </p:cNvPr>
          <p:cNvSpPr>
            <a:spLocks xmlns:a="http://schemas.openxmlformats.org/drawingml/2006/main" noGrp="1"/>
          </p:cNvSpPr>
          <p:nvPr/>
        </p:nvSpPr>
        <p:spPr>
          <a:xfrm xmlns:a="http://schemas.openxmlformats.org/drawingml/2006/main">
            <a:off x="609600" y="2952750"/>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7F2E8"/>
                </a:solidFill>
                <a:latin typeface="Arial"/>
                <a:ea typeface="Arial"/>
                <a:cs typeface="Arial"/>
              </a:defRPr>
            </a:pPr>
            <a:r>
              <a:rPr sz="2175" b="0">
                <a:solidFill>
                  <a:srgbClr val="F7F2E8"/>
                </a:solidFill>
                <a:latin typeface="Arial"/>
                <a:ea typeface="Arial"/>
                <a:cs typeface="Arial"/>
              </a:rPr>
              <a:t>Urgency and private</a:t>
            </a:r>
          </a:p>
          <a:p xmlns:a="http://schemas.openxmlformats.org/drawingml/2006/main">
            <a:pPr>
              <a:defRPr sz="2175" b="0">
                <a:solidFill>
                  <a:srgbClr val="F7F2E8"/>
                </a:solidFill>
                <a:latin typeface="Arial"/>
                <a:ea typeface="Arial"/>
                <a:cs typeface="Arial"/>
              </a:defRPr>
            </a:pPr>
            <a:r>
              <a:rPr sz="2175" b="0">
                <a:solidFill>
                  <a:srgbClr val="F7F2E8"/>
                </a:solidFill>
                <a:latin typeface="Arial"/>
                <a:ea typeface="Arial"/>
                <a:cs typeface="Arial"/>
              </a:rPr>
              <a:t>data requests raise risk.</a:t>
            </a:r>
          </a:p>
        </p:txBody>
      </p:sp>
      <p:sp>
        <p:nvSpPr>
          <p:cNvPr id="6" name="">
            <a:extLst xmlns:a="http://schemas.openxmlformats.org/drawingml/2006/main">
              <a:ext uri="{FF2B5EF4-FFF2-40B4-BE49-F238E27FC236}">
                <a16:creationId xmlns:a16="http://schemas.microsoft.com/office/drawing/2014/main" id="{29DD0EC9-A799-4274-B591-7D01F9D0B752}"/>
              </a:ext>
            </a:extLst>
          </p:cNvPr>
          <p:cNvSpPr>
            <a:spLocks xmlns:a="http://schemas.openxmlformats.org/drawingml/2006/main" noGrp="1"/>
          </p:cNvSpPr>
          <p:nvPr/>
        </p:nvSpPr>
        <p:spPr>
          <a:xfrm xmlns:a="http://schemas.openxmlformats.org/drawingml/2006/main">
            <a:off x="609600" y="436245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9B8CA"/>
                </a:solidFill>
                <a:latin typeface="Arial"/>
                <a:ea typeface="Arial"/>
                <a:cs typeface="Arial"/>
              </a:defRPr>
            </a:pPr>
            <a:r>
              <a:rPr sz="2175" b="0">
                <a:solidFill>
                  <a:srgbClr val="A9B8CA"/>
                </a:solidFill>
                <a:latin typeface="Arial"/>
                <a:ea typeface="Arial"/>
                <a:cs typeface="Arial"/>
              </a:rPr>
              <a:t>Caller on hold.</a:t>
            </a:r>
          </a:p>
          <a:p xmlns:a="http://schemas.openxmlformats.org/drawingml/2006/main">
            <a:pPr>
              <a:defRPr sz="2175" b="0">
                <a:solidFill>
                  <a:srgbClr val="A9B8CA"/>
                </a:solidFill>
                <a:latin typeface="Arial"/>
                <a:ea typeface="Arial"/>
                <a:cs typeface="Arial"/>
              </a:defRPr>
            </a:pPr>
            <a:r>
              <a:rPr sz="2175" b="0">
                <a:solidFill>
                  <a:srgbClr val="A9B8CA"/>
                </a:solidFill>
                <a:latin typeface="Arial"/>
                <a:ea typeface="Arial"/>
                <a:cs typeface="Arial"/>
              </a:rPr>
              <a:t>Margaret gets private help.</a:t>
            </a:r>
          </a:p>
        </p:txBody>
      </p:sp>
      <p:sp>
        <p:nvSpPr>
          <p:cNvPr id="7" name="">
            <a:extLst xmlns:a="http://schemas.openxmlformats.org/drawingml/2006/main">
              <a:ext uri="{FF2B5EF4-FFF2-40B4-BE49-F238E27FC236}">
                <a16:creationId xmlns:a16="http://schemas.microsoft.com/office/drawing/2014/main" id="{9CBBEE9F-D3A0-4381-A633-8DDE59BD2B7C}"/>
              </a:ext>
            </a:extLst>
          </p:cNvPr>
          <p:cNvSpPr>
            <a:spLocks xmlns:a="http://schemas.openxmlformats.org/drawingml/2006/main" noGrp="1"/>
          </p:cNvSpPr>
          <p:nvPr/>
        </p:nvSpPr>
        <p:spPr>
          <a:xfrm xmlns:a="http://schemas.openxmlformats.org/drawingml/2006/main">
            <a:off x="4419600" y="5953125"/>
            <a:ext cx="716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A9B8CA"/>
                </a:solidFill>
                <a:latin typeface="Arial"/>
                <a:ea typeface="Arial"/>
                <a:cs typeface="Arial"/>
              </a:defRPr>
            </a:pPr>
            <a:r>
              <a:rPr sz="1425" b="0">
                <a:solidFill>
                  <a:srgbClr val="A9B8CA"/>
                </a:solidFill>
                <a:latin typeface="Arial"/>
                <a:ea typeface="Arial"/>
                <a:cs typeface="Arial"/>
              </a:rPr>
              <a:t>Prerecorded Replay scenario in the browser demo</a:t>
            </a:r>
          </a:p>
        </p:txBody>
      </p:sp>
    </p:spTree>
    <p:extLst>
      <p:ext uri="{BB962C8B-B14F-4D97-AF65-F5344CB8AC3E}">
        <p14:creationId xmlns:p14="http://schemas.microsoft.com/office/powerpoint/2010/main" val="374756322"/>
      </p:ext>
    </p:extLst>
  </p:cSld>
</p:sld>
</file>

<file path=ppt/slides/slide4.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3709013-1D63-4AF5-82D2-79EB3FE5B870}"/>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0213A"/>
                </a:solidFill>
                <a:latin typeface="Arial"/>
                <a:ea typeface="Arial"/>
                <a:cs typeface="Arial"/>
              </a:defRPr>
            </a:pPr>
            <a:r>
              <a:rPr sz="3600" b="1">
                <a:solidFill>
                  <a:srgbClr val="10213A"/>
                </a:solidFill>
                <a:latin typeface="Arial"/>
                <a:ea typeface="Arial"/>
                <a:cs typeface="Arial"/>
              </a:rPr>
              <a:t>The call flow</a:t>
            </a:r>
          </a:p>
        </p:txBody>
      </p:sp>
      <p:sp>
        <p:nvSpPr>
          <p:cNvPr id="2" name="">
            <a:extLst xmlns:a="http://schemas.openxmlformats.org/drawingml/2006/main">
              <a:ext uri="{FF2B5EF4-FFF2-40B4-BE49-F238E27FC236}">
                <a16:creationId xmlns:a16="http://schemas.microsoft.com/office/drawing/2014/main" id="{881D1C98-424A-44BA-AE44-7E46E273C19A}"/>
              </a:ext>
            </a:extLst>
          </p:cNvPr>
          <p:cNvSpPr>
            <a:spLocks xmlns:a="http://schemas.openxmlformats.org/drawingml/2006/main" noGrp="1"/>
          </p:cNvSpPr>
          <p:nvPr/>
        </p:nvSpPr>
        <p:spPr>
          <a:xfrm xmlns:a="http://schemas.openxmlformats.org/drawingml/2006/main">
            <a:off x="111442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279"/>
                </a:solidFill>
                <a:latin typeface="Arial"/>
                <a:ea typeface="Arial"/>
                <a:cs typeface="Arial"/>
              </a:defRPr>
            </a:pPr>
            <a:r>
              <a:rPr sz="1200" b="0">
                <a:solidFill>
                  <a:srgbClr val="526279"/>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64FAD39-283D-4E2A-AB83-863F9FB84E73}"/>
              </a:ext>
            </a:extLst>
          </p:cNvPr>
          <p:cNvSpPr>
            <a:spLocks xmlns:a="http://schemas.openxmlformats.org/drawingml/2006/main" noGrp="1"/>
          </p:cNvSpPr>
          <p:nvPr/>
        </p:nvSpPr>
        <p:spPr>
          <a:xfrm xmlns:a="http://schemas.openxmlformats.org/drawingml/2006/main">
            <a:off x="609600" y="16859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13A"/>
                </a:solidFill>
                <a:latin typeface="Arial"/>
                <a:ea typeface="Arial"/>
                <a:cs typeface="Arial"/>
              </a:defRPr>
            </a:pPr>
            <a:r>
              <a:rPr sz="2325" b="1">
                <a:solidFill>
                  <a:srgbClr val="10213A"/>
                </a:solidFill>
                <a:latin typeface="Arial"/>
                <a:ea typeface="Arial"/>
                <a:cs typeface="Arial"/>
              </a:rPr>
              <a:t>Trusted contacts</a:t>
            </a:r>
          </a:p>
        </p:txBody>
      </p:sp>
      <p:sp>
        <p:nvSpPr>
          <p:cNvPr id="4" name="">
            <a:extLst xmlns:a="http://schemas.openxmlformats.org/drawingml/2006/main">
              <a:ext uri="{FF2B5EF4-FFF2-40B4-BE49-F238E27FC236}">
                <a16:creationId xmlns:a16="http://schemas.microsoft.com/office/drawing/2014/main" id="{B8DC0342-E37B-44E8-A6E1-93105BB00D53}"/>
              </a:ext>
            </a:extLst>
          </p:cNvPr>
          <p:cNvSpPr>
            <a:spLocks xmlns:a="http://schemas.openxmlformats.org/drawingml/2006/main" noGrp="1"/>
          </p:cNvSpPr>
          <p:nvPr/>
        </p:nvSpPr>
        <p:spPr>
          <a:xfrm xmlns:a="http://schemas.openxmlformats.org/drawingml/2006/main">
            <a:off x="609600" y="227647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279"/>
                </a:solidFill>
                <a:latin typeface="Arial"/>
                <a:ea typeface="Arial"/>
                <a:cs typeface="Arial"/>
              </a:defRPr>
            </a:pPr>
            <a:r>
              <a:rPr sz="2100" b="0">
                <a:solidFill>
                  <a:srgbClr val="526279"/>
                </a:solidFill>
                <a:latin typeface="Arial"/>
                <a:ea typeface="Arial"/>
                <a:cs typeface="Arial"/>
              </a:rPr>
              <a:t>Ring directly. No transcription or recording.</a:t>
            </a:r>
          </a:p>
        </p:txBody>
      </p:sp>
      <p:sp>
        <p:nvSpPr>
          <p:cNvPr id="5" name="">
            <a:extLst xmlns:a="http://schemas.openxmlformats.org/drawingml/2006/main">
              <a:ext uri="{FF2B5EF4-FFF2-40B4-BE49-F238E27FC236}">
                <a16:creationId xmlns:a16="http://schemas.microsoft.com/office/drawing/2014/main" id="{C14F2151-4FD7-4E57-B0D0-FB46C91E9EFD}"/>
              </a:ext>
            </a:extLst>
          </p:cNvPr>
          <p:cNvSpPr>
            <a:spLocks xmlns:a="http://schemas.openxmlformats.org/drawingml/2006/main" noGrp="1"/>
          </p:cNvSpPr>
          <p:nvPr/>
        </p:nvSpPr>
        <p:spPr>
          <a:xfrm xmlns:a="http://schemas.openxmlformats.org/drawingml/2006/main">
            <a:off x="609600" y="31242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ED7657"/>
                </a:solidFill>
                <a:latin typeface="Arial"/>
                <a:ea typeface="Arial"/>
                <a:cs typeface="Arial"/>
              </a:defRPr>
            </a:pPr>
            <a:r>
              <a:rPr sz="2400" b="1">
                <a:solidFill>
                  <a:srgbClr val="ED7657"/>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0AD66A4-637B-4350-958D-8264BFADD7E2}"/>
              </a:ext>
            </a:extLst>
          </p:cNvPr>
          <p:cNvSpPr>
            <a:spLocks xmlns:a="http://schemas.openxmlformats.org/drawingml/2006/main" noGrp="1"/>
          </p:cNvSpPr>
          <p:nvPr/>
        </p:nvSpPr>
        <p:spPr>
          <a:xfrm xmlns:a="http://schemas.openxmlformats.org/drawingml/2006/main">
            <a:off x="1485900" y="312420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13A"/>
                </a:solidFill>
                <a:latin typeface="Arial"/>
                <a:ea typeface="Arial"/>
                <a:cs typeface="Arial"/>
              </a:defRPr>
            </a:pPr>
            <a:r>
              <a:rPr sz="2250" b="1">
                <a:solidFill>
                  <a:srgbClr val="10213A"/>
                </a:solidFill>
                <a:latin typeface="Arial"/>
                <a:ea typeface="Arial"/>
                <a:cs typeface="Arial"/>
              </a:rPr>
              <a:t>Front Door</a:t>
            </a:r>
          </a:p>
        </p:txBody>
      </p:sp>
      <p:sp>
        <p:nvSpPr>
          <p:cNvPr id="7" name="">
            <a:extLst xmlns:a="http://schemas.openxmlformats.org/drawingml/2006/main">
              <a:ext uri="{FF2B5EF4-FFF2-40B4-BE49-F238E27FC236}">
                <a16:creationId xmlns:a16="http://schemas.microsoft.com/office/drawing/2014/main" id="{41DB3B9E-53C2-4066-8BA6-34CA411F8516}"/>
              </a:ext>
            </a:extLst>
          </p:cNvPr>
          <p:cNvSpPr>
            <a:spLocks xmlns:a="http://schemas.openxmlformats.org/drawingml/2006/main" noGrp="1"/>
          </p:cNvSpPr>
          <p:nvPr/>
        </p:nvSpPr>
        <p:spPr>
          <a:xfrm xmlns:a="http://schemas.openxmlformats.org/drawingml/2006/main">
            <a:off x="4810125" y="3124200"/>
            <a:ext cx="6619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13A"/>
                </a:solidFill>
                <a:latin typeface="Arial"/>
                <a:ea typeface="Arial"/>
                <a:cs typeface="Arial"/>
              </a:defRPr>
            </a:pPr>
            <a:r>
              <a:rPr sz="1950" b="0">
                <a:solidFill>
                  <a:srgbClr val="10213A"/>
                </a:solidFill>
                <a:latin typeface="Arial"/>
                <a:ea typeface="Arial"/>
                <a:cs typeface="Arial"/>
              </a:rPr>
              <a:t>Ask an unknown caller who they are and why they called.</a:t>
            </a:r>
          </a:p>
        </p:txBody>
      </p:sp>
      <p:sp>
        <p:nvSpPr>
          <p:cNvPr id="8" name="">
            <a:extLst xmlns:a="http://schemas.openxmlformats.org/drawingml/2006/main">
              <a:ext uri="{FF2B5EF4-FFF2-40B4-BE49-F238E27FC236}">
                <a16:creationId xmlns:a16="http://schemas.microsoft.com/office/drawing/2014/main" id="{63D0AFB7-7EC1-40F9-8A64-02CAD1018561}"/>
              </a:ext>
            </a:extLst>
          </p:cNvPr>
          <p:cNvSpPr>
            <a:spLocks xmlns:a="http://schemas.openxmlformats.org/drawingml/2006/main" noGrp="1"/>
          </p:cNvSpPr>
          <p:nvPr/>
        </p:nvSpPr>
        <p:spPr>
          <a:xfrm xmlns:a="http://schemas.openxmlformats.org/drawingml/2006/main">
            <a:off x="609600" y="40386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ED7657"/>
                </a:solidFill>
                <a:latin typeface="Arial"/>
                <a:ea typeface="Arial"/>
                <a:cs typeface="Arial"/>
              </a:defRPr>
            </a:pPr>
            <a:r>
              <a:rPr sz="2400" b="1">
                <a:solidFill>
                  <a:srgbClr val="ED7657"/>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9DE869E0-A0DF-40B9-811F-514983B7B546}"/>
              </a:ext>
            </a:extLst>
          </p:cNvPr>
          <p:cNvSpPr>
            <a:spLocks xmlns:a="http://schemas.openxmlformats.org/drawingml/2006/main" noGrp="1"/>
          </p:cNvSpPr>
          <p:nvPr/>
        </p:nvSpPr>
        <p:spPr>
          <a:xfrm xmlns:a="http://schemas.openxmlformats.org/drawingml/2006/main">
            <a:off x="1485900" y="403860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13A"/>
                </a:solidFill>
                <a:latin typeface="Arial"/>
                <a:ea typeface="Arial"/>
                <a:cs typeface="Arial"/>
              </a:defRPr>
            </a:pPr>
            <a:r>
              <a:rPr sz="2250" b="1">
                <a:solidFill>
                  <a:srgbClr val="10213A"/>
                </a:solidFill>
                <a:latin typeface="Arial"/>
                <a:ea typeface="Arial"/>
                <a:cs typeface="Arial"/>
              </a:rPr>
              <a:t>Live monitoring</a:t>
            </a:r>
          </a:p>
        </p:txBody>
      </p:sp>
      <p:sp>
        <p:nvSpPr>
          <p:cNvPr id="10" name="">
            <a:extLst xmlns:a="http://schemas.openxmlformats.org/drawingml/2006/main">
              <a:ext uri="{FF2B5EF4-FFF2-40B4-BE49-F238E27FC236}">
                <a16:creationId xmlns:a16="http://schemas.microsoft.com/office/drawing/2014/main" id="{C6AAB2D7-0BB8-4D79-9CD9-5FB6E0B165EC}"/>
              </a:ext>
            </a:extLst>
          </p:cNvPr>
          <p:cNvSpPr>
            <a:spLocks xmlns:a="http://schemas.openxmlformats.org/drawingml/2006/main" noGrp="1"/>
          </p:cNvSpPr>
          <p:nvPr/>
        </p:nvSpPr>
        <p:spPr>
          <a:xfrm xmlns:a="http://schemas.openxmlformats.org/drawingml/2006/main">
            <a:off x="4810125" y="4038600"/>
            <a:ext cx="6619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13A"/>
                </a:solidFill>
                <a:latin typeface="Arial"/>
                <a:ea typeface="Arial"/>
                <a:cs typeface="Arial"/>
              </a:defRPr>
            </a:pPr>
            <a:r>
              <a:rPr sz="1950" b="0">
                <a:solidFill>
                  <a:srgbClr val="10213A"/>
                </a:solidFill>
                <a:latin typeface="Arial"/>
                <a:ea typeface="Arial"/>
                <a:cs typeface="Arial"/>
              </a:rPr>
              <a:t>Score the caller and senior through separate audio streams.</a:t>
            </a:r>
          </a:p>
        </p:txBody>
      </p:sp>
      <p:sp>
        <p:nvSpPr>
          <p:cNvPr id="11" name="">
            <a:extLst xmlns:a="http://schemas.openxmlformats.org/drawingml/2006/main">
              <a:ext uri="{FF2B5EF4-FFF2-40B4-BE49-F238E27FC236}">
                <a16:creationId xmlns:a16="http://schemas.microsoft.com/office/drawing/2014/main" id="{95A94EAF-EF4A-4705-8B09-BD0A6583D958}"/>
              </a:ext>
            </a:extLst>
          </p:cNvPr>
          <p:cNvSpPr>
            <a:spLocks xmlns:a="http://schemas.openxmlformats.org/drawingml/2006/main" noGrp="1"/>
          </p:cNvSpPr>
          <p:nvPr/>
        </p:nvSpPr>
        <p:spPr>
          <a:xfrm xmlns:a="http://schemas.openxmlformats.org/drawingml/2006/main">
            <a:off x="609600" y="49530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ED7657"/>
                </a:solidFill>
                <a:latin typeface="Arial"/>
                <a:ea typeface="Arial"/>
                <a:cs typeface="Arial"/>
              </a:defRPr>
            </a:pPr>
            <a:r>
              <a:rPr sz="2400" b="1">
                <a:solidFill>
                  <a:srgbClr val="ED7657"/>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4F10C49E-38E9-4A08-99CA-2A94136C95F9}"/>
              </a:ext>
            </a:extLst>
          </p:cNvPr>
          <p:cNvSpPr>
            <a:spLocks xmlns:a="http://schemas.openxmlformats.org/drawingml/2006/main" noGrp="1"/>
          </p:cNvSpPr>
          <p:nvPr/>
        </p:nvSpPr>
        <p:spPr>
          <a:xfrm xmlns:a="http://schemas.openxmlformats.org/drawingml/2006/main">
            <a:off x="1485900" y="495300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13A"/>
                </a:solidFill>
                <a:latin typeface="Arial"/>
                <a:ea typeface="Arial"/>
                <a:cs typeface="Arial"/>
              </a:defRPr>
            </a:pPr>
            <a:r>
              <a:rPr sz="2250" b="1">
                <a:solidFill>
                  <a:srgbClr val="10213A"/>
                </a:solidFill>
                <a:latin typeface="Arial"/>
                <a:ea typeface="Arial"/>
                <a:cs typeface="Arial"/>
              </a:rPr>
              <a:t>Private Guardian</a:t>
            </a:r>
          </a:p>
        </p:txBody>
      </p:sp>
      <p:sp>
        <p:nvSpPr>
          <p:cNvPr id="13" name="">
            <a:extLst xmlns:a="http://schemas.openxmlformats.org/drawingml/2006/main">
              <a:ext uri="{FF2B5EF4-FFF2-40B4-BE49-F238E27FC236}">
                <a16:creationId xmlns:a16="http://schemas.microsoft.com/office/drawing/2014/main" id="{CF3467FA-20FB-4C94-BF54-CE9161F761C6}"/>
              </a:ext>
            </a:extLst>
          </p:cNvPr>
          <p:cNvSpPr>
            <a:spLocks xmlns:a="http://schemas.openxmlformats.org/drawingml/2006/main" noGrp="1"/>
          </p:cNvSpPr>
          <p:nvPr/>
        </p:nvSpPr>
        <p:spPr>
          <a:xfrm xmlns:a="http://schemas.openxmlformats.org/drawingml/2006/main">
            <a:off x="4810125" y="4953000"/>
            <a:ext cx="6619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13A"/>
                </a:solidFill>
                <a:latin typeface="Arial"/>
                <a:ea typeface="Arial"/>
                <a:cs typeface="Arial"/>
              </a:defRPr>
            </a:pPr>
            <a:r>
              <a:rPr sz="1950" b="0">
                <a:solidFill>
                  <a:srgbClr val="10213A"/>
                </a:solidFill>
                <a:latin typeface="Arial"/>
                <a:ea typeface="Arial"/>
                <a:cs typeface="Arial"/>
              </a:rPr>
              <a:t>Hold the caller and help the senior choose what happens next.</a:t>
            </a:r>
          </a:p>
        </p:txBody>
      </p:sp>
      <p:sp>
        <p:nvSpPr>
          <p:cNvPr id="14" name="">
            <a:extLst xmlns:a="http://schemas.openxmlformats.org/drawingml/2006/main">
              <a:ext uri="{FF2B5EF4-FFF2-40B4-BE49-F238E27FC236}">
                <a16:creationId xmlns:a16="http://schemas.microsoft.com/office/drawing/2014/main" id="{7B8AA6AD-9033-4124-BE10-A79876FB4422}"/>
              </a:ext>
            </a:extLst>
          </p:cNvPr>
          <p:cNvSpPr>
            <a:spLocks xmlns:a="http://schemas.openxmlformats.org/drawingml/2006/main" noGrp="1"/>
          </p:cNvSpPr>
          <p:nvPr/>
        </p:nvSpPr>
        <p:spPr>
          <a:xfrm xmlns:a="http://schemas.openxmlformats.org/drawingml/2006/main">
            <a:off x="609600" y="6010275"/>
            <a:ext cx="1081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279"/>
                </a:solidFill>
                <a:latin typeface="Arial"/>
                <a:ea typeface="Arial"/>
                <a:cs typeface="Arial"/>
              </a:defRPr>
            </a:pPr>
            <a:r>
              <a:rPr sz="1650" b="0">
                <a:solidFill>
                  <a:srgbClr val="526279"/>
                </a:solidFill>
                <a:latin typeface="Arial"/>
                <a:ea typeface="Arial"/>
                <a:cs typeface="Arial"/>
              </a:rPr>
              <a:t>40: private nudge     65: Guardian hold*     90: recommend family</a:t>
            </a:r>
          </a:p>
        </p:txBody>
      </p:sp>
      <p:sp>
        <p:nvSpPr>
          <p:cNvPr id="15" name="">
            <a:extLst xmlns:a="http://schemas.openxmlformats.org/drawingml/2006/main">
              <a:ext uri="{FF2B5EF4-FFF2-40B4-BE49-F238E27FC236}">
                <a16:creationId xmlns:a16="http://schemas.microsoft.com/office/drawing/2014/main" id="{A27C6EE4-758D-4C27-B489-53E0889A7636}"/>
              </a:ext>
            </a:extLst>
          </p:cNvPr>
          <p:cNvSpPr>
            <a:spLocks xmlns:a="http://schemas.openxmlformats.org/drawingml/2006/main" noGrp="1"/>
          </p:cNvSpPr>
          <p:nvPr/>
        </p:nvSpPr>
        <p:spPr>
          <a:xfrm xmlns:a="http://schemas.openxmlformats.org/drawingml/2006/main">
            <a:off x="609600" y="642937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279"/>
                </a:solidFill>
                <a:latin typeface="Arial"/>
                <a:ea typeface="Arial"/>
                <a:cs typeface="Arial"/>
              </a:defRPr>
            </a:pPr>
            <a:r>
              <a:rPr sz="1200" b="0">
                <a:solidFill>
                  <a:srgbClr val="526279"/>
                </a:solidFill>
                <a:latin typeface="Arial"/>
                <a:ea typeface="Arial"/>
                <a:cs typeface="Arial"/>
              </a:rPr>
              <a:t>*Earlier for defined sensitive disclosure or compliance signals.</a:t>
            </a:r>
          </a:p>
        </p:txBody>
      </p:sp>
    </p:spTree>
    <p:extLst>
      <p:ext uri="{BB962C8B-B14F-4D97-AF65-F5344CB8AC3E}">
        <p14:creationId xmlns:p14="http://schemas.microsoft.com/office/powerpoint/2010/main" val="703800547"/>
      </p:ext>
    </p:extLst>
  </p:cSld>
</p:sld>
</file>

<file path=ppt/slides/slide5.xml><?xml version="1.0" encoding="utf-8"?>
<p:sld xmlns:p="http://schemas.openxmlformats.org/presentationml/2006/main">
  <p:cSld>
    <p:bg>
      <p:bgPr>
        <a:solidFill xmlns:a="http://schemas.openxmlformats.org/drawingml/2006/main">
          <a:srgbClr val="0B172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8B10D6-F9E4-48A0-958C-2D24E2BBD5AE}"/>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7F2E8"/>
                </a:solidFill>
                <a:latin typeface="Arial"/>
                <a:ea typeface="Arial"/>
                <a:cs typeface="Arial"/>
              </a:defRPr>
            </a:pPr>
            <a:r>
              <a:rPr sz="3600" b="1">
                <a:solidFill>
                  <a:srgbClr val="F7F2E8"/>
                </a:solidFill>
                <a:latin typeface="Arial"/>
                <a:ea typeface="Arial"/>
                <a:cs typeface="Arial"/>
              </a:rPr>
              <a:t>AssemblyAI throughout the call</a:t>
            </a:r>
          </a:p>
        </p:txBody>
      </p:sp>
      <p:sp>
        <p:nvSpPr>
          <p:cNvPr id="2" name="">
            <a:extLst xmlns:a="http://schemas.openxmlformats.org/drawingml/2006/main">
              <a:ext uri="{FF2B5EF4-FFF2-40B4-BE49-F238E27FC236}">
                <a16:creationId xmlns:a16="http://schemas.microsoft.com/office/drawing/2014/main" id="{7592671A-DC4A-4459-BD1E-51E27A20DA2D}"/>
              </a:ext>
            </a:extLst>
          </p:cNvPr>
          <p:cNvSpPr>
            <a:spLocks xmlns:a="http://schemas.openxmlformats.org/drawingml/2006/main" noGrp="1"/>
          </p:cNvSpPr>
          <p:nvPr/>
        </p:nvSpPr>
        <p:spPr>
          <a:xfrm xmlns:a="http://schemas.openxmlformats.org/drawingml/2006/main">
            <a:off x="111442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9B8CA"/>
                </a:solidFill>
                <a:latin typeface="Arial"/>
                <a:ea typeface="Arial"/>
                <a:cs typeface="Arial"/>
              </a:defRPr>
            </a:pPr>
            <a:r>
              <a:rPr sz="1200" b="0">
                <a:solidFill>
                  <a:srgbClr val="A9B8CA"/>
                </a:solidFill>
                <a:latin typeface="Arial"/>
                <a:ea typeface="Arial"/>
                <a:cs typeface="Arial"/>
              </a:rPr>
              <a:t>05</a:t>
            </a:r>
          </a:p>
        </p:txBody>
      </p:sp>
      <p:graphicFrame>
        <p:nvGraphicFramePr>
          <p:cNvPr id="7" name=""/>
          <p:cNvGraphicFramePr/>
          <p:nvPr/>
        </p:nvGraphicFramePr>
        <p:xfrm>
          <a:off xmlns:a="http://schemas.openxmlformats.org/drawingml/2006/main" x="609600" y="1752600"/>
          <a:ext xmlns:a="http://schemas.openxmlformats.org/drawingml/2006/main" cx="10972800" cy="4057650"/>
        </p:xfrm>
        <a:graphic xmlns:a="http://schemas.openxmlformats.org/drawingml/2006/main">
          <a:graphicData uri="http://schemas.openxmlformats.org/drawingml/2006/table">
            <a:tbl>
              <a:tblPr/>
              <a:tblGrid>
                <a:gridCol w="3381375"/>
                <a:gridCol w="7591425"/>
              </a:tblGrid>
              <a:tr h="676275">
                <a:tc>
                  <a:txBody>
                    <a:bodyPr/>
                    <a:lstStyle/>
                    <a:p>
                      <a:r>
                        <a:rPr sz="2025" b="1">
                          <a:solidFill>
                            <a:srgbClr val="F2C763"/>
                          </a:solidFill>
                          <a:latin typeface="Arial"/>
                          <a:ea typeface="Arial"/>
                          <a:cs typeface="Arial"/>
                        </a:rPr>
                        <a:t>AssemblyAI capability</a:t>
                      </a:r>
                    </a:p>
                  </a:txBody>
                  <a:tcPr marL="91440" marR="91440" marT="45720" marB="45720">
                    <a:solidFill>
                      <a:srgbClr val="0B172A"/>
                    </a:solidFill>
                  </a:tcPr>
                </a:tc>
                <a:tc>
                  <a:txBody>
                    <a:bodyPr/>
                    <a:lstStyle/>
                    <a:p>
                      <a:r>
                        <a:rPr sz="2025" b="1">
                          <a:solidFill>
                            <a:srgbClr val="F2C763"/>
                          </a:solidFill>
                          <a:latin typeface="Arial"/>
                          <a:ea typeface="Arial"/>
                          <a:cs typeface="Arial"/>
                        </a:rPr>
                        <a:t>Eufisky use</a:t>
                      </a:r>
                    </a:p>
                  </a:txBody>
                  <a:tcPr marL="91440" marR="91440" marT="45720" marB="45720">
                    <a:solidFill>
                      <a:srgbClr val="0B172A"/>
                    </a:solidFill>
                  </a:tcPr>
                </a:tc>
              </a:tr>
              <a:tr h="676275">
                <a:tc>
                  <a:txBody>
                    <a:bodyPr/>
                    <a:lstStyle/>
                    <a:p>
                      <a:r>
                        <a:rPr sz="1875" b="1">
                          <a:solidFill>
                            <a:srgbClr val="F7F2E8"/>
                          </a:solidFill>
                          <a:latin typeface="Arial"/>
                          <a:ea typeface="Arial"/>
                          <a:cs typeface="Arial"/>
                        </a:rPr>
                        <a:t>Voice Agent API</a:t>
                      </a:r>
                    </a:p>
                  </a:txBody>
                  <a:tcPr marL="91440" marR="91440" marT="45720" marB="45720">
                    <a:solidFill>
                      <a:srgbClr val="0B172A"/>
                    </a:solidFill>
                  </a:tcPr>
                </a:tc>
                <a:tc>
                  <a:txBody>
                    <a:bodyPr/>
                    <a:lstStyle/>
                    <a:p>
                      <a:r>
                        <a:rPr sz="1875" b="0">
                          <a:solidFill>
                            <a:srgbClr val="F7F2E8"/>
                          </a:solidFill>
                          <a:latin typeface="Arial"/>
                          <a:ea typeface="Arial"/>
                          <a:cs typeface="Arial"/>
                        </a:rPr>
                        <a:t>Front Door screening and private Guardian dialogue</a:t>
                      </a:r>
                    </a:p>
                  </a:txBody>
                  <a:tcPr marL="91440" marR="91440" marT="45720" marB="45720">
                    <a:solidFill>
                      <a:srgbClr val="0B172A"/>
                    </a:solidFill>
                  </a:tcPr>
                </a:tc>
              </a:tr>
              <a:tr h="676275">
                <a:tc>
                  <a:txBody>
                    <a:bodyPr/>
                    <a:lstStyle/>
                    <a:p>
                      <a:r>
                        <a:rPr sz="1875" b="1">
                          <a:solidFill>
                            <a:srgbClr val="F7F2E8"/>
                          </a:solidFill>
                          <a:latin typeface="Arial"/>
                          <a:ea typeface="Arial"/>
                          <a:cs typeface="Arial"/>
                        </a:rPr>
                        <a:t>Universal Streaming</a:t>
                      </a:r>
                    </a:p>
                  </a:txBody>
                  <a:tcPr marL="91440" marR="91440" marT="45720" marB="45720">
                    <a:solidFill>
                      <a:srgbClr val="0B172A"/>
                    </a:solidFill>
                  </a:tcPr>
                </a:tc>
                <a:tc>
                  <a:txBody>
                    <a:bodyPr/>
                    <a:lstStyle/>
                    <a:p>
                      <a:r>
                        <a:rPr sz="1875" b="0">
                          <a:solidFill>
                            <a:srgbClr val="F7F2E8"/>
                          </a:solidFill>
                          <a:latin typeface="Arial"/>
                          <a:ea typeface="Arial"/>
                          <a:cs typeface="Arial"/>
                        </a:rPr>
                        <a:t>Separate caller and senior streams with fixed labels</a:t>
                      </a:r>
                    </a:p>
                  </a:txBody>
                  <a:tcPr marL="91440" marR="91440" marT="45720" marB="45720">
                    <a:solidFill>
                      <a:srgbClr val="0B172A"/>
                    </a:solidFill>
                  </a:tcPr>
                </a:tc>
              </a:tr>
              <a:tr h="676275">
                <a:tc>
                  <a:txBody>
                    <a:bodyPr/>
                    <a:lstStyle/>
                    <a:p>
                      <a:r>
                        <a:rPr sz="1875" b="1">
                          <a:solidFill>
                            <a:srgbClr val="F7F2E8"/>
                          </a:solidFill>
                          <a:latin typeface="Arial"/>
                          <a:ea typeface="Arial"/>
                          <a:cs typeface="Arial"/>
                        </a:rPr>
                        <a:t>Keyterm prompting</a:t>
                      </a:r>
                    </a:p>
                  </a:txBody>
                  <a:tcPr marL="91440" marR="91440" marT="45720" marB="45720">
                    <a:solidFill>
                      <a:srgbClr val="0B172A"/>
                    </a:solidFill>
                  </a:tcPr>
                </a:tc>
                <a:tc>
                  <a:txBody>
                    <a:bodyPr/>
                    <a:lstStyle/>
                    <a:p>
                      <a:r>
                        <a:rPr sz="1875" b="0">
                          <a:solidFill>
                            <a:srgbClr val="F7F2E8"/>
                          </a:solidFill>
                          <a:latin typeface="Arial"/>
                          <a:ea typeface="Arial"/>
                          <a:cs typeface="Arial"/>
                        </a:rPr>
                        <a:t>Names, ordinary call purposes and scam vocabulary</a:t>
                      </a:r>
                    </a:p>
                  </a:txBody>
                  <a:tcPr marL="91440" marR="91440" marT="45720" marB="45720">
                    <a:solidFill>
                      <a:srgbClr val="0B172A"/>
                    </a:solidFill>
                  </a:tcPr>
                </a:tc>
              </a:tr>
              <a:tr h="676275">
                <a:tc>
                  <a:txBody>
                    <a:bodyPr/>
                    <a:lstStyle/>
                    <a:p>
                      <a:r>
                        <a:rPr sz="1875" b="1">
                          <a:solidFill>
                            <a:srgbClr val="F7F2E8"/>
                          </a:solidFill>
                          <a:latin typeface="Arial"/>
                          <a:ea typeface="Arial"/>
                          <a:cs typeface="Arial"/>
                        </a:rPr>
                        <a:t>Batch PII redaction</a:t>
                      </a:r>
                    </a:p>
                  </a:txBody>
                  <a:tcPr marL="91440" marR="91440" marT="45720" marB="45720">
                    <a:solidFill>
                      <a:srgbClr val="0B172A"/>
                    </a:solidFill>
                  </a:tcPr>
                </a:tc>
                <a:tc>
                  <a:txBody>
                    <a:bodyPr/>
                    <a:lstStyle/>
                    <a:p>
                      <a:r>
                        <a:rPr sz="1875" b="0">
                          <a:solidFill>
                            <a:srgbClr val="F7F2E8"/>
                          </a:solidFill>
                          <a:latin typeface="Arial"/>
                          <a:ea typeface="Arial"/>
                          <a:cs typeface="Arial"/>
                        </a:rPr>
                        <a:t>Redacted text and audio after microphone calls</a:t>
                      </a:r>
                    </a:p>
                  </a:txBody>
                  <a:tcPr marL="91440" marR="91440" marT="45720" marB="45720">
                    <a:solidFill>
                      <a:srgbClr val="0B172A"/>
                    </a:solidFill>
                  </a:tcPr>
                </a:tc>
              </a:tr>
              <a:tr h="676275">
                <a:tc>
                  <a:txBody>
                    <a:bodyPr/>
                    <a:lstStyle/>
                    <a:p>
                      <a:r>
                        <a:rPr sz="1875" b="1">
                          <a:solidFill>
                            <a:srgbClr val="F7F2E8"/>
                          </a:solidFill>
                          <a:latin typeface="Arial"/>
                          <a:ea typeface="Arial"/>
                          <a:cs typeface="Arial"/>
                        </a:rPr>
                        <a:t>LLM Gateway</a:t>
                      </a:r>
                    </a:p>
                  </a:txBody>
                  <a:tcPr marL="91440" marR="91440" marT="45720" marB="45720">
                    <a:solidFill>
                      <a:srgbClr val="0B172A"/>
                    </a:solidFill>
                  </a:tcPr>
                </a:tc>
                <a:tc>
                  <a:txBody>
                    <a:bodyPr/>
                    <a:lstStyle/>
                    <a:p>
                      <a:r>
                        <a:rPr sz="1875" b="0">
                          <a:solidFill>
                            <a:srgbClr val="F7F2E8"/>
                          </a:solidFill>
                          <a:latin typeface="Arial"/>
                          <a:ea typeface="Arial"/>
                          <a:cs typeface="Arial"/>
                        </a:rPr>
                        <a:t>Incident summary with a deterministic template fallback</a:t>
                      </a:r>
                    </a:p>
                  </a:txBody>
                  <a:tcPr marL="91440" marR="91440" marT="45720" marB="45720">
                    <a:solidFill>
                      <a:srgbClr val="0B172A"/>
                    </a:solidFill>
                  </a:tcPr>
                </a:tc>
              </a:tr>
            </a:tbl>
          </a:graphicData>
        </a:graphic>
      </p:graphicFrame>
      <p:sp>
        <p:nvSpPr>
          <p:cNvPr id="4" name="">
            <a:extLst xmlns:a="http://schemas.openxmlformats.org/drawingml/2006/main">
              <a:ext uri="{FF2B5EF4-FFF2-40B4-BE49-F238E27FC236}">
                <a16:creationId xmlns:a16="http://schemas.microsoft.com/office/drawing/2014/main" id="{EF7ADBD0-7965-430B-B199-77C442427457}"/>
              </a:ext>
            </a:extLst>
          </p:cNvPr>
          <p:cNvSpPr>
            <a:spLocks xmlns:a="http://schemas.openxmlformats.org/drawingml/2006/main" noGrp="1"/>
          </p:cNvSpPr>
          <p:nvPr/>
        </p:nvSpPr>
        <p:spPr>
          <a:xfrm xmlns:a="http://schemas.openxmlformats.org/drawingml/2006/main">
            <a:off x="609600" y="60007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9B8CA"/>
                </a:solidFill>
                <a:latin typeface="Arial"/>
                <a:ea typeface="Arial"/>
                <a:cs typeface="Arial"/>
              </a:defRPr>
            </a:pPr>
            <a:r>
              <a:rPr sz="1875" b="0">
                <a:solidFill>
                  <a:srgbClr val="A9B8CA"/>
                </a:solidFill>
                <a:latin typeface="Arial"/>
                <a:ea typeface="Arial"/>
                <a:cs typeface="Arial"/>
              </a:rPr>
              <a:t>Scam-risk decisions come from explicit rules and recorded evidence.</a:t>
            </a:r>
          </a:p>
        </p:txBody>
      </p:sp>
    </p:spTree>
    <p:extLst>
      <p:ext uri="{BB962C8B-B14F-4D97-AF65-F5344CB8AC3E}">
        <p14:creationId xmlns:p14="http://schemas.microsoft.com/office/powerpoint/2010/main" val="1652526522"/>
      </p:ext>
    </p:extLst>
  </p:cSld>
</p:sld>
</file>

<file path=ppt/slides/slide6.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21AC2B-CA08-4869-922D-424A7DACA11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0213A"/>
                </a:solidFill>
                <a:latin typeface="Arial"/>
                <a:ea typeface="Arial"/>
                <a:cs typeface="Arial"/>
              </a:defRPr>
            </a:pPr>
            <a:r>
              <a:rPr sz="3600" b="1">
                <a:solidFill>
                  <a:srgbClr val="10213A"/>
                </a:solidFill>
                <a:latin typeface="Arial"/>
                <a:ea typeface="Arial"/>
                <a:cs typeface="Arial"/>
              </a:rPr>
              <a:t>Private help, reversible choices</a:t>
            </a:r>
          </a:p>
        </p:txBody>
      </p:sp>
      <p:sp>
        <p:nvSpPr>
          <p:cNvPr id="2" name="">
            <a:extLst xmlns:a="http://schemas.openxmlformats.org/drawingml/2006/main">
              <a:ext uri="{FF2B5EF4-FFF2-40B4-BE49-F238E27FC236}">
                <a16:creationId xmlns:a16="http://schemas.microsoft.com/office/drawing/2014/main" id="{B3896D97-FF80-4EAC-AA10-45992F82B252}"/>
              </a:ext>
            </a:extLst>
          </p:cNvPr>
          <p:cNvSpPr>
            <a:spLocks xmlns:a="http://schemas.openxmlformats.org/drawingml/2006/main" noGrp="1"/>
          </p:cNvSpPr>
          <p:nvPr/>
        </p:nvSpPr>
        <p:spPr>
          <a:xfrm xmlns:a="http://schemas.openxmlformats.org/drawingml/2006/main">
            <a:off x="111442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279"/>
                </a:solidFill>
                <a:latin typeface="Arial"/>
                <a:ea typeface="Arial"/>
                <a:cs typeface="Arial"/>
              </a:defRPr>
            </a:pPr>
            <a:r>
              <a:rPr sz="1200" b="0">
                <a:solidFill>
                  <a:srgbClr val="526279"/>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5E0BDFB-3E2B-4DE8-A75D-B4CCD835E5B6}"/>
              </a:ext>
            </a:extLst>
          </p:cNvPr>
          <p:cNvSpPr>
            <a:spLocks xmlns:a="http://schemas.openxmlformats.org/drawingml/2006/main" noGrp="1"/>
          </p:cNvSpPr>
          <p:nvPr/>
        </p:nvSpPr>
        <p:spPr>
          <a:xfrm xmlns:a="http://schemas.openxmlformats.org/drawingml/2006/main">
            <a:off x="609600" y="1752600"/>
            <a:ext cx="4381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0213A"/>
                </a:solidFill>
                <a:latin typeface="Arial"/>
                <a:ea typeface="Arial"/>
                <a:cs typeface="Arial"/>
              </a:defRPr>
            </a:pPr>
            <a:r>
              <a:rPr sz="2775" b="1">
                <a:solidFill>
                  <a:srgbClr val="10213A"/>
                </a:solidFill>
                <a:latin typeface="Arial"/>
                <a:ea typeface="Arial"/>
                <a:cs typeface="Arial"/>
              </a:rPr>
              <a:t>The senior keeps control</a:t>
            </a:r>
          </a:p>
        </p:txBody>
      </p:sp>
      <p:sp>
        <p:nvSpPr>
          <p:cNvPr id="4" name="">
            <a:extLst xmlns:a="http://schemas.openxmlformats.org/drawingml/2006/main">
              <a:ext uri="{FF2B5EF4-FFF2-40B4-BE49-F238E27FC236}">
                <a16:creationId xmlns:a16="http://schemas.microsoft.com/office/drawing/2014/main" id="{D3F1DA54-8B4A-4BFA-BE5A-704C52E42220}"/>
              </a:ext>
            </a:extLst>
          </p:cNvPr>
          <p:cNvSpPr>
            <a:spLocks xmlns:a="http://schemas.openxmlformats.org/drawingml/2006/main" noGrp="1"/>
          </p:cNvSpPr>
          <p:nvPr/>
        </p:nvSpPr>
        <p:spPr>
          <a:xfrm xmlns:a="http://schemas.openxmlformats.org/drawingml/2006/main">
            <a:off x="609600" y="2771775"/>
            <a:ext cx="409575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0213A"/>
                </a:solidFill>
                <a:latin typeface="Arial"/>
                <a:ea typeface="Arial"/>
                <a:cs typeface="Arial"/>
              </a:defRPr>
            </a:pPr>
            <a:r>
              <a:rPr sz="2250" b="0">
                <a:solidFill>
                  <a:srgbClr val="10213A"/>
                </a:solidFill>
                <a:latin typeface="Arial"/>
                <a:ea typeface="Arial"/>
                <a:cs typeface="Arial"/>
              </a:rPr>
              <a:t>Resume the call</a:t>
            </a:r>
          </a:p>
          <a:p xmlns:a="http://schemas.openxmlformats.org/drawingml/2006/main">
            <a:pPr>
              <a:defRPr sz="2250" b="0">
                <a:solidFill>
                  <a:srgbClr val="10213A"/>
                </a:solidFill>
                <a:latin typeface="Arial"/>
                <a:ea typeface="Arial"/>
                <a:cs typeface="Arial"/>
              </a:defRPr>
            </a:pPr>
            <a:r>
              <a:rPr sz="2250" b="0">
                <a:solidFill>
                  <a:srgbClr val="10213A"/>
                </a:solidFill>
                <a:latin typeface="Arial"/>
                <a:ea typeface="Arial"/>
                <a:cs typeface="Arial"/>
              </a:rPr>
              <a:t>Invite family privately</a:t>
            </a:r>
          </a:p>
          <a:p xmlns:a="http://schemas.openxmlformats.org/drawingml/2006/main">
            <a:pPr>
              <a:defRPr sz="2250" b="0">
                <a:solidFill>
                  <a:srgbClr val="10213A"/>
                </a:solidFill>
                <a:latin typeface="Arial"/>
                <a:ea typeface="Arial"/>
                <a:cs typeface="Arial"/>
              </a:defRPr>
            </a:pPr>
            <a:r>
              <a:rPr sz="2250" b="0">
                <a:solidFill>
                  <a:srgbClr val="10213A"/>
                </a:solidFill>
                <a:latin typeface="Arial"/>
                <a:ea typeface="Arial"/>
                <a:cs typeface="Arial"/>
              </a:rPr>
              <a:t>End the call</a:t>
            </a:r>
          </a:p>
          <a:p xmlns:a="http://schemas.openxmlformats.org/drawingml/2006/main">
            <a:pPr>
              <a:defRPr sz="2250" b="0">
                <a:solidFill>
                  <a:srgbClr val="10213A"/>
                </a:solidFill>
                <a:latin typeface="Arial"/>
                <a:ea typeface="Arial"/>
                <a:cs typeface="Arial"/>
              </a:defRPr>
            </a:pPr>
            <a:r>
              <a:rPr sz="2250" b="0">
                <a:solidFill>
                  <a:srgbClr val="10213A"/>
                </a:solidFill>
                <a:latin typeface="Arial"/>
                <a:ea typeface="Arial"/>
                <a:cs typeface="Arial"/>
              </a:rPr>
              <a:t>Trust the caller</a:t>
            </a:r>
          </a:p>
        </p:txBody>
      </p:sp>
      <p:sp>
        <p:nvSpPr>
          <p:cNvPr id="5" name="">
            <a:extLst xmlns:a="http://schemas.openxmlformats.org/drawingml/2006/main">
              <a:ext uri="{FF2B5EF4-FFF2-40B4-BE49-F238E27FC236}">
                <a16:creationId xmlns:a16="http://schemas.microsoft.com/office/drawing/2014/main" id="{595D5A97-4489-4E51-8561-4A82B7FB8175}"/>
              </a:ext>
            </a:extLst>
          </p:cNvPr>
          <p:cNvSpPr>
            <a:spLocks xmlns:a="http://schemas.openxmlformats.org/drawingml/2006/main" noGrp="1"/>
          </p:cNvSpPr>
          <p:nvPr/>
        </p:nvSpPr>
        <p:spPr>
          <a:xfrm xmlns:a="http://schemas.openxmlformats.org/drawingml/2006/main">
            <a:off x="609600" y="5276850"/>
            <a:ext cx="4095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279"/>
                </a:solidFill>
                <a:latin typeface="Arial"/>
                <a:ea typeface="Arial"/>
                <a:cs typeface="Arial"/>
              </a:defRPr>
            </a:pPr>
            <a:r>
              <a:rPr sz="1875" b="0">
                <a:solidFill>
                  <a:srgbClr val="526279"/>
                </a:solidFill>
                <a:latin typeface="Arial"/>
                <a:ea typeface="Arial"/>
                <a:cs typeface="Arial"/>
              </a:rPr>
              <a:t>Reports use recorded call events.</a:t>
            </a:r>
          </a:p>
          <a:p xmlns:a="http://schemas.openxmlformats.org/drawingml/2006/main">
            <a:pPr>
              <a:defRPr sz="1875" b="0">
                <a:solidFill>
                  <a:srgbClr val="526279"/>
                </a:solidFill>
                <a:latin typeface="Arial"/>
                <a:ea typeface="Arial"/>
                <a:cs typeface="Arial"/>
              </a:defRPr>
            </a:pPr>
            <a:r>
              <a:rPr sz="1875" b="0">
                <a:solidFill>
                  <a:srgbClr val="526279"/>
                </a:solidFill>
                <a:latin typeface="Arial"/>
                <a:ea typeface="Arial"/>
                <a:cs typeface="Arial"/>
              </a:rPr>
              <a:t>Trusted conversations stay private.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d3f3b70fc2b425b"/>
          <a:stretch xmlns:a="http://schemas.openxmlformats.org/drawingml/2006/main"/>
        </p:blipFill>
        <p:spPr>
          <a:xfrm xmlns:a="http://schemas.openxmlformats.org/drawingml/2006/main">
            <a:off x="5383213" y="1914525"/>
            <a:ext cx="6197600" cy="3486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969FAA8-24DE-474F-AA08-8F1EE677F83D}"/>
              </a:ext>
            </a:extLst>
          </p:cNvPr>
          <p:cNvSpPr>
            <a:spLocks xmlns:a="http://schemas.openxmlformats.org/drawingml/2006/main" noGrp="1"/>
          </p:cNvSpPr>
          <p:nvPr/>
        </p:nvSpPr>
        <p:spPr>
          <a:xfrm xmlns:a="http://schemas.openxmlformats.org/drawingml/2006/main">
            <a:off x="5381625" y="5667375"/>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279"/>
                </a:solidFill>
                <a:latin typeface="Arial"/>
                <a:ea typeface="Arial"/>
                <a:cs typeface="Arial"/>
              </a:defRPr>
            </a:pPr>
            <a:r>
              <a:rPr sz="1425" b="0">
                <a:solidFill>
                  <a:srgbClr val="526279"/>
                </a:solidFill>
                <a:latin typeface="Arial"/>
                <a:ea typeface="Arial"/>
                <a:cs typeface="Arial"/>
              </a:rPr>
              <a:t>Preloaded sample incident report</a:t>
            </a:r>
          </a:p>
        </p:txBody>
      </p:sp>
    </p:spTree>
    <p:extLst>
      <p:ext uri="{BB962C8B-B14F-4D97-AF65-F5344CB8AC3E}">
        <p14:creationId xmlns:p14="http://schemas.microsoft.com/office/powerpoint/2010/main" val="465360032"/>
      </p:ext>
    </p:extLst>
  </p:cSld>
</p:sld>
</file>

<file path=ppt/slides/slide7.xml><?xml version="1.0" encoding="utf-8"?>
<p:sld xmlns:p="http://schemas.openxmlformats.org/presentationml/2006/main">
  <p:cSld>
    <p:bg>
      <p:bgPr>
        <a:solidFill xmlns:a="http://schemas.openxmlformats.org/drawingml/2006/main">
          <a:srgbClr val="0B17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34FFC9-3580-4F96-BABF-BB83DB1A08B7}"/>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7F2E8"/>
                </a:solidFill>
                <a:latin typeface="Arial"/>
                <a:ea typeface="Arial"/>
                <a:cs typeface="Arial"/>
              </a:defRPr>
            </a:pPr>
            <a:r>
              <a:rPr sz="3600" b="1">
                <a:solidFill>
                  <a:srgbClr val="F7F2E8"/>
                </a:solidFill>
                <a:latin typeface="Arial"/>
                <a:ea typeface="Arial"/>
                <a:cs typeface="Arial"/>
              </a:rPr>
              <a:t>Voice reliability: checks and limits</a:t>
            </a:r>
          </a:p>
        </p:txBody>
      </p:sp>
      <p:sp>
        <p:nvSpPr>
          <p:cNvPr id="2" name="">
            <a:extLst xmlns:a="http://schemas.openxmlformats.org/drawingml/2006/main">
              <a:ext uri="{FF2B5EF4-FFF2-40B4-BE49-F238E27FC236}">
                <a16:creationId xmlns:a16="http://schemas.microsoft.com/office/drawing/2014/main" id="{42B4E853-8C7F-4BFB-8AD0-3E19225A9FAF}"/>
              </a:ext>
            </a:extLst>
          </p:cNvPr>
          <p:cNvSpPr>
            <a:spLocks xmlns:a="http://schemas.openxmlformats.org/drawingml/2006/main" noGrp="1"/>
          </p:cNvSpPr>
          <p:nvPr/>
        </p:nvSpPr>
        <p:spPr>
          <a:xfrm xmlns:a="http://schemas.openxmlformats.org/drawingml/2006/main">
            <a:off x="111442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9B8CA"/>
                </a:solidFill>
                <a:latin typeface="Arial"/>
                <a:ea typeface="Arial"/>
                <a:cs typeface="Arial"/>
              </a:defRPr>
            </a:pPr>
            <a:r>
              <a:rPr sz="1200" b="0">
                <a:solidFill>
                  <a:srgbClr val="A9B8C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90B6ABB0-0060-423F-800D-FEECD3D4A01E}"/>
              </a:ext>
            </a:extLst>
          </p:cNvPr>
          <p:cNvSpPr>
            <a:spLocks xmlns:a="http://schemas.openxmlformats.org/drawingml/2006/main" noGrp="1"/>
          </p:cNvSpPr>
          <p:nvPr/>
        </p:nvSpPr>
        <p:spPr>
          <a:xfrm xmlns:a="http://schemas.openxmlformats.org/drawingml/2006/main">
            <a:off x="609600" y="1714500"/>
            <a:ext cx="4572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2C763"/>
                </a:solidFill>
                <a:latin typeface="Arial"/>
                <a:ea typeface="Arial"/>
                <a:cs typeface="Arial"/>
              </a:defRPr>
            </a:pPr>
            <a:r>
              <a:rPr sz="7200" b="1">
                <a:solidFill>
                  <a:srgbClr val="F2C763"/>
                </a:solidFill>
                <a:latin typeface="Arial"/>
                <a:ea typeface="Arial"/>
                <a:cs typeface="Arial"/>
              </a:rPr>
              <a:t>89 + 4</a:t>
            </a:r>
          </a:p>
        </p:txBody>
      </p:sp>
      <p:sp>
        <p:nvSpPr>
          <p:cNvPr id="4" name="">
            <a:extLst xmlns:a="http://schemas.openxmlformats.org/drawingml/2006/main">
              <a:ext uri="{FF2B5EF4-FFF2-40B4-BE49-F238E27FC236}">
                <a16:creationId xmlns:a16="http://schemas.microsoft.com/office/drawing/2014/main" id="{5E37D37A-B0EB-40DD-ACA1-F0C8B4A64161}"/>
              </a:ext>
            </a:extLst>
          </p:cNvPr>
          <p:cNvSpPr>
            <a:spLocks xmlns:a="http://schemas.openxmlformats.org/drawingml/2006/main" noGrp="1"/>
          </p:cNvSpPr>
          <p:nvPr/>
        </p:nvSpPr>
        <p:spPr>
          <a:xfrm xmlns:a="http://schemas.openxmlformats.org/drawingml/2006/main">
            <a:off x="638175" y="3057525"/>
            <a:ext cx="4762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7F2E8"/>
                </a:solidFill>
                <a:latin typeface="Arial"/>
                <a:ea typeface="Arial"/>
                <a:cs typeface="Arial"/>
              </a:defRPr>
            </a:pPr>
            <a:r>
              <a:rPr sz="2100" b="0">
                <a:solidFill>
                  <a:srgbClr val="F7F2E8"/>
                </a:solidFill>
                <a:latin typeface="Arial"/>
                <a:ea typeface="Arial"/>
                <a:cs typeface="Arial"/>
              </a:rPr>
              <a:t>Python tests + JavaScript audio checks</a:t>
            </a:r>
          </a:p>
        </p:txBody>
      </p:sp>
      <p:sp>
        <p:nvSpPr>
          <p:cNvPr id="5" name="">
            <a:extLst xmlns:a="http://schemas.openxmlformats.org/drawingml/2006/main">
              <a:ext uri="{FF2B5EF4-FFF2-40B4-BE49-F238E27FC236}">
                <a16:creationId xmlns:a16="http://schemas.microsoft.com/office/drawing/2014/main" id="{6E78E0D5-BF07-401D-9912-412AA232ACF2}"/>
              </a:ext>
            </a:extLst>
          </p:cNvPr>
          <p:cNvSpPr>
            <a:spLocks xmlns:a="http://schemas.openxmlformats.org/drawingml/2006/main" noGrp="1"/>
          </p:cNvSpPr>
          <p:nvPr/>
        </p:nvSpPr>
        <p:spPr>
          <a:xfrm xmlns:a="http://schemas.openxmlformats.org/drawingml/2006/main">
            <a:off x="6477000" y="1733550"/>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7F2E8"/>
                </a:solidFill>
                <a:latin typeface="Arial"/>
                <a:ea typeface="Arial"/>
                <a:cs typeface="Arial"/>
              </a:defRPr>
            </a:pPr>
            <a:r>
              <a:rPr sz="2550" b="1">
                <a:solidFill>
                  <a:srgbClr val="F7F2E8"/>
                </a:solidFill>
                <a:latin typeface="Arial"/>
                <a:ea typeface="Arial"/>
                <a:cs typeface="Arial"/>
              </a:rPr>
              <a:t>Hosted Chrome microphone check</a:t>
            </a:r>
          </a:p>
        </p:txBody>
      </p:sp>
      <p:sp>
        <p:nvSpPr>
          <p:cNvPr id="6" name="">
            <a:extLst xmlns:a="http://schemas.openxmlformats.org/drawingml/2006/main">
              <a:ext uri="{FF2B5EF4-FFF2-40B4-BE49-F238E27FC236}">
                <a16:creationId xmlns:a16="http://schemas.microsoft.com/office/drawing/2014/main" id="{1C6B3F67-7B7F-41BA-BD1F-33446BC5263E}"/>
              </a:ext>
            </a:extLst>
          </p:cNvPr>
          <p:cNvSpPr>
            <a:spLocks xmlns:a="http://schemas.openxmlformats.org/drawingml/2006/main" noGrp="1"/>
          </p:cNvSpPr>
          <p:nvPr/>
        </p:nvSpPr>
        <p:spPr>
          <a:xfrm xmlns:a="http://schemas.openxmlformats.org/drawingml/2006/main">
            <a:off x="6477000" y="2686050"/>
            <a:ext cx="495300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9B8CA"/>
                </a:solidFill>
                <a:latin typeface="Arial"/>
                <a:ea typeface="Arial"/>
                <a:cs typeface="Arial"/>
              </a:defRPr>
            </a:pPr>
            <a:r>
              <a:rPr sz="2100" b="0">
                <a:solidFill>
                  <a:srgbClr val="A9B8CA"/>
                </a:solidFill>
                <a:latin typeface="Arial"/>
                <a:ea typeface="Arial"/>
                <a:cs typeface="Arial"/>
              </a:rPr>
              <a:t>13 seconds of valid capture frames</a:t>
            </a:r>
          </a:p>
          <a:p xmlns:a="http://schemas.openxmlformats.org/drawingml/2006/main">
            <a:pPr>
              <a:defRPr sz="2100" b="0">
                <a:solidFill>
                  <a:srgbClr val="A9B8CA"/>
                </a:solidFill>
                <a:latin typeface="Arial"/>
                <a:ea typeface="Arial"/>
                <a:cs typeface="Arial"/>
              </a:defRPr>
            </a:pPr>
            <a:r>
              <a:rPr sz="2100" b="0">
                <a:solidFill>
                  <a:srgbClr val="A9B8CA"/>
                </a:solidFill>
                <a:latin typeface="Arial"/>
                <a:ea typeface="Arial"/>
                <a:cs typeface="Arial"/>
              </a:rPr>
              <a:t>5.4 seconds of returned voice audio</a:t>
            </a:r>
          </a:p>
          <a:p xmlns:a="http://schemas.openxmlformats.org/drawingml/2006/main">
            <a:pPr>
              <a:defRPr sz="2100" b="0">
                <a:solidFill>
                  <a:srgbClr val="A9B8CA"/>
                </a:solidFill>
                <a:latin typeface="Arial"/>
                <a:ea typeface="Arial"/>
                <a:cs typeface="Arial"/>
              </a:defRPr>
            </a:pPr>
            <a:r>
              <a:rPr sz="2100" b="0">
                <a:solidFill>
                  <a:srgbClr val="A9B8CA"/>
                </a:solidFill>
                <a:latin typeface="Arial"/>
                <a:ea typeface="Arial"/>
                <a:cs typeface="Arial"/>
              </a:rPr>
              <a:t>No browser exceptions</a:t>
            </a:r>
          </a:p>
        </p:txBody>
      </p:sp>
      <p:sp>
        <p:nvSpPr>
          <p:cNvPr id="7" name="">
            <a:extLst xmlns:a="http://schemas.openxmlformats.org/drawingml/2006/main">
              <a:ext uri="{FF2B5EF4-FFF2-40B4-BE49-F238E27FC236}">
                <a16:creationId xmlns:a16="http://schemas.microsoft.com/office/drawing/2014/main" id="{F5F1078A-26AC-451B-AAE0-196FB31DDD7F}"/>
              </a:ext>
            </a:extLst>
          </p:cNvPr>
          <p:cNvSpPr>
            <a:spLocks xmlns:a="http://schemas.openxmlformats.org/drawingml/2006/main" noGrp="1"/>
          </p:cNvSpPr>
          <p:nvPr/>
        </p:nvSpPr>
        <p:spPr>
          <a:xfrm xmlns:a="http://schemas.openxmlformats.org/drawingml/2006/main">
            <a:off x="609600" y="47244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7F2E8"/>
                </a:solidFill>
                <a:latin typeface="Arial"/>
                <a:ea typeface="Arial"/>
                <a:cs typeface="Arial"/>
              </a:defRPr>
            </a:pPr>
            <a:r>
              <a:rPr sz="2325" b="1">
                <a:solidFill>
                  <a:srgbClr val="F7F2E8"/>
                </a:solidFill>
                <a:latin typeface="Arial"/>
                <a:ea typeface="Arial"/>
                <a:cs typeface="Arial"/>
              </a:rPr>
              <a:t>Same recording: “pharmacy delivery” now recognized correctly.</a:t>
            </a:r>
          </a:p>
        </p:txBody>
      </p:sp>
      <p:sp>
        <p:nvSpPr>
          <p:cNvPr id="8" name="">
            <a:extLst xmlns:a="http://schemas.openxmlformats.org/drawingml/2006/main">
              <a:ext uri="{FF2B5EF4-FFF2-40B4-BE49-F238E27FC236}">
                <a16:creationId xmlns:a16="http://schemas.microsoft.com/office/drawing/2014/main" id="{A1212295-F4F1-4C70-807D-0BFF41B59C03}"/>
              </a:ext>
            </a:extLst>
          </p:cNvPr>
          <p:cNvSpPr>
            <a:spLocks xmlns:a="http://schemas.openxmlformats.org/drawingml/2006/main" noGrp="1"/>
          </p:cNvSpPr>
          <p:nvPr/>
        </p:nvSpPr>
        <p:spPr>
          <a:xfrm xmlns:a="http://schemas.openxmlformats.org/drawingml/2006/main">
            <a:off x="609600" y="586740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9B8CA"/>
                </a:solidFill>
                <a:latin typeface="Arial"/>
                <a:ea typeface="Arial"/>
                <a:cs typeface="Arial"/>
              </a:defRPr>
            </a:pPr>
            <a:r>
              <a:rPr sz="1650" b="0">
                <a:solidFill>
                  <a:srgbClr val="A9B8CA"/>
                </a:solidFill>
                <a:latin typeface="Arial"/>
                <a:ea typeface="Arial"/>
                <a:cs typeface="Arial"/>
              </a:rPr>
              <a:t>Synthetic English speech. Human accents, noise and scam false positives remain unbenchmarked.</a:t>
            </a:r>
          </a:p>
        </p:txBody>
      </p:sp>
    </p:spTree>
    <p:extLst>
      <p:ext uri="{BB962C8B-B14F-4D97-AF65-F5344CB8AC3E}">
        <p14:creationId xmlns:p14="http://schemas.microsoft.com/office/powerpoint/2010/main" val="2129976589"/>
      </p:ext>
    </p:extLst>
  </p:cSld>
</p:sld>
</file>

<file path=ppt/slides/slide8.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35743D-3CED-461F-B0B5-D35BEE0F5FF2}"/>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0213A"/>
                </a:solidFill>
                <a:latin typeface="Arial"/>
                <a:ea typeface="Arial"/>
                <a:cs typeface="Arial"/>
              </a:defRPr>
            </a:pPr>
            <a:r>
              <a:rPr sz="3600" b="1">
                <a:solidFill>
                  <a:srgbClr val="10213A"/>
                </a:solidFill>
                <a:latin typeface="Arial"/>
                <a:ea typeface="Arial"/>
                <a:cs typeface="Arial"/>
              </a:rPr>
              <a:t>The first buyer: an adult child</a:t>
            </a:r>
          </a:p>
        </p:txBody>
      </p:sp>
      <p:sp>
        <p:nvSpPr>
          <p:cNvPr id="2" name="">
            <a:extLst xmlns:a="http://schemas.openxmlformats.org/drawingml/2006/main">
              <a:ext uri="{FF2B5EF4-FFF2-40B4-BE49-F238E27FC236}">
                <a16:creationId xmlns:a16="http://schemas.microsoft.com/office/drawing/2014/main" id="{8D933F1A-14E0-4B26-A4E9-6DD62E57AB41}"/>
              </a:ext>
            </a:extLst>
          </p:cNvPr>
          <p:cNvSpPr>
            <a:spLocks xmlns:a="http://schemas.openxmlformats.org/drawingml/2006/main" noGrp="1"/>
          </p:cNvSpPr>
          <p:nvPr/>
        </p:nvSpPr>
        <p:spPr>
          <a:xfrm xmlns:a="http://schemas.openxmlformats.org/drawingml/2006/main">
            <a:off x="111442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279"/>
                </a:solidFill>
                <a:latin typeface="Arial"/>
                <a:ea typeface="Arial"/>
                <a:cs typeface="Arial"/>
              </a:defRPr>
            </a:pPr>
            <a:r>
              <a:rPr sz="1200" b="0">
                <a:solidFill>
                  <a:srgbClr val="526279"/>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5E80594E-A3E1-496B-84C7-7986DDC24F99}"/>
              </a:ext>
            </a:extLst>
          </p:cNvPr>
          <p:cNvSpPr>
            <a:spLocks xmlns:a="http://schemas.openxmlformats.org/drawingml/2006/main" noGrp="1"/>
          </p:cNvSpPr>
          <p:nvPr/>
        </p:nvSpPr>
        <p:spPr>
          <a:xfrm xmlns:a="http://schemas.openxmlformats.org/drawingml/2006/main">
            <a:off x="609600" y="1800225"/>
            <a:ext cx="581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325" b="1">
                <a:solidFill>
                  <a:srgbClr val="ED7657"/>
                </a:solidFill>
                <a:latin typeface="Arial"/>
                <a:ea typeface="Arial"/>
                <a:cs typeface="Arial"/>
              </a:defRPr>
            </a:pPr>
            <a:r>
              <a:rPr sz="5325" b="1">
                <a:solidFill>
                  <a:srgbClr val="ED7657"/>
                </a:solidFill>
                <a:latin typeface="Arial"/>
                <a:ea typeface="Arial"/>
                <a:cs typeface="Arial"/>
              </a:rPr>
              <a:t>$9–15 / month</a:t>
            </a:r>
          </a:p>
        </p:txBody>
      </p:sp>
      <p:sp>
        <p:nvSpPr>
          <p:cNvPr id="4" name="">
            <a:extLst xmlns:a="http://schemas.openxmlformats.org/drawingml/2006/main">
              <a:ext uri="{FF2B5EF4-FFF2-40B4-BE49-F238E27FC236}">
                <a16:creationId xmlns:a16="http://schemas.microsoft.com/office/drawing/2014/main" id="{B6AA4014-C560-4EDF-8E30-9BEA52E970B6}"/>
              </a:ext>
            </a:extLst>
          </p:cNvPr>
          <p:cNvSpPr>
            <a:spLocks xmlns:a="http://schemas.openxmlformats.org/drawingml/2006/main" noGrp="1"/>
          </p:cNvSpPr>
          <p:nvPr/>
        </p:nvSpPr>
        <p:spPr>
          <a:xfrm xmlns:a="http://schemas.openxmlformats.org/drawingml/2006/main">
            <a:off x="638175" y="3114675"/>
            <a:ext cx="5429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279"/>
                </a:solidFill>
                <a:latin typeface="Arial"/>
                <a:ea typeface="Arial"/>
                <a:cs typeface="Arial"/>
              </a:defRPr>
            </a:pPr>
            <a:r>
              <a:rPr sz="2100" b="0">
                <a:solidFill>
                  <a:srgbClr val="526279"/>
                </a:solidFill>
                <a:latin typeface="Arial"/>
                <a:ea typeface="Arial"/>
                <a:cs typeface="Arial"/>
              </a:rPr>
              <a:t>Family subscription hypothesis</a:t>
            </a:r>
          </a:p>
          <a:p xmlns:a="http://schemas.openxmlformats.org/drawingml/2006/main">
            <a:pPr>
              <a:defRPr sz="2100" b="0">
                <a:solidFill>
                  <a:srgbClr val="526279"/>
                </a:solidFill>
                <a:latin typeface="Arial"/>
                <a:ea typeface="Arial"/>
                <a:cs typeface="Arial"/>
              </a:defRPr>
            </a:pPr>
            <a:r>
              <a:rPr sz="2100" b="0">
                <a:solidFill>
                  <a:srgbClr val="526279"/>
                </a:solidFill>
                <a:latin typeface="Arial"/>
                <a:ea typeface="Arial"/>
                <a:cs typeface="Arial"/>
              </a:rPr>
              <a:t>Pricing and demand need validation</a:t>
            </a:r>
          </a:p>
        </p:txBody>
      </p:sp>
      <p:sp>
        <p:nvSpPr>
          <p:cNvPr id="5" name="">
            <a:extLst xmlns:a="http://schemas.openxmlformats.org/drawingml/2006/main">
              <a:ext uri="{FF2B5EF4-FFF2-40B4-BE49-F238E27FC236}">
                <a16:creationId xmlns:a16="http://schemas.microsoft.com/office/drawing/2014/main" id="{69D62435-394F-41C0-A8CC-AB179B67D568}"/>
              </a:ext>
            </a:extLst>
          </p:cNvPr>
          <p:cNvSpPr>
            <a:spLocks xmlns:a="http://schemas.openxmlformats.org/drawingml/2006/main" noGrp="1"/>
          </p:cNvSpPr>
          <p:nvPr/>
        </p:nvSpPr>
        <p:spPr>
          <a:xfrm xmlns:a="http://schemas.openxmlformats.org/drawingml/2006/main">
            <a:off x="7105650" y="1781175"/>
            <a:ext cx="4191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0213A"/>
                </a:solidFill>
                <a:latin typeface="Arial"/>
                <a:ea typeface="Arial"/>
                <a:cs typeface="Arial"/>
              </a:defRPr>
            </a:pPr>
            <a:r>
              <a:rPr sz="2625" b="1">
                <a:solidFill>
                  <a:srgbClr val="10213A"/>
                </a:solidFill>
                <a:latin typeface="Arial"/>
                <a:ea typeface="Arial"/>
                <a:cs typeface="Arial"/>
              </a:rPr>
              <a:t>First pilot</a:t>
            </a:r>
          </a:p>
        </p:txBody>
      </p:sp>
      <p:sp>
        <p:nvSpPr>
          <p:cNvPr id="6" name="">
            <a:extLst xmlns:a="http://schemas.openxmlformats.org/drawingml/2006/main">
              <a:ext uri="{FF2B5EF4-FFF2-40B4-BE49-F238E27FC236}">
                <a16:creationId xmlns:a16="http://schemas.microsoft.com/office/drawing/2014/main" id="{136F600F-425B-4253-8233-4630268D7E50}"/>
              </a:ext>
            </a:extLst>
          </p:cNvPr>
          <p:cNvSpPr>
            <a:spLocks xmlns:a="http://schemas.openxmlformats.org/drawingml/2006/main" noGrp="1"/>
          </p:cNvSpPr>
          <p:nvPr/>
        </p:nvSpPr>
        <p:spPr>
          <a:xfrm xmlns:a="http://schemas.openxmlformats.org/drawingml/2006/main">
            <a:off x="7105650" y="2600325"/>
            <a:ext cx="4219575"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13A"/>
                </a:solidFill>
                <a:latin typeface="Arial"/>
                <a:ea typeface="Arial"/>
                <a:cs typeface="Arial"/>
              </a:defRPr>
            </a:pPr>
            <a:r>
              <a:rPr sz="2025" b="0">
                <a:solidFill>
                  <a:srgbClr val="10213A"/>
                </a:solidFill>
                <a:latin typeface="Arial"/>
                <a:ea typeface="Arial"/>
                <a:cs typeface="Arial"/>
              </a:rPr>
              <a:t>Families supporting an older parent</a:t>
            </a:r>
          </a:p>
          <a:p xmlns:a="http://schemas.openxmlformats.org/drawingml/2006/main">
            <a:r>
              <a:t/>
            </a:r>
          </a:p>
          <a:p xmlns:a="http://schemas.openxmlformats.org/drawingml/2006/main">
            <a:pPr>
              <a:defRPr sz="2025" b="0">
                <a:solidFill>
                  <a:srgbClr val="10213A"/>
                </a:solidFill>
                <a:latin typeface="Arial"/>
                <a:ea typeface="Arial"/>
                <a:cs typeface="Arial"/>
              </a:defRPr>
            </a:pPr>
            <a:r>
              <a:rPr sz="2025" b="0">
                <a:solidFill>
                  <a:srgbClr val="10213A"/>
                </a:solidFill>
                <a:latin typeface="Arial"/>
                <a:ea typeface="Arial"/>
                <a:cs typeface="Arial"/>
              </a:rPr>
              <a:t>Measure false alarms, recognition</a:t>
            </a:r>
          </a:p>
          <a:p xmlns:a="http://schemas.openxmlformats.org/drawingml/2006/main">
            <a:pPr>
              <a:defRPr sz="2025" b="0">
                <a:solidFill>
                  <a:srgbClr val="10213A"/>
                </a:solidFill>
                <a:latin typeface="Arial"/>
                <a:ea typeface="Arial"/>
                <a:cs typeface="Arial"/>
              </a:defRPr>
            </a:pPr>
            <a:r>
              <a:rPr sz="2025" b="0">
                <a:solidFill>
                  <a:srgbClr val="10213A"/>
                </a:solidFill>
                <a:latin typeface="Arial"/>
                <a:ea typeface="Arial"/>
                <a:cs typeface="Arial"/>
              </a:rPr>
              <a:t>and acceptance of intervention.</a:t>
            </a:r>
          </a:p>
        </p:txBody>
      </p:sp>
      <p:sp>
        <p:nvSpPr>
          <p:cNvPr id="7" name="">
            <a:extLst xmlns:a="http://schemas.openxmlformats.org/drawingml/2006/main">
              <a:ext uri="{FF2B5EF4-FFF2-40B4-BE49-F238E27FC236}">
                <a16:creationId xmlns:a16="http://schemas.microsoft.com/office/drawing/2014/main" id="{F6A0E4A4-4CC2-4B30-8DE2-E78CA56C8668}"/>
              </a:ext>
            </a:extLst>
          </p:cNvPr>
          <p:cNvSpPr>
            <a:spLocks xmlns:a="http://schemas.openxmlformats.org/drawingml/2006/main" noGrp="1"/>
          </p:cNvSpPr>
          <p:nvPr/>
        </p:nvSpPr>
        <p:spPr>
          <a:xfrm xmlns:a="http://schemas.openxmlformats.org/drawingml/2006/main">
            <a:off x="609600" y="51625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13A"/>
                </a:solidFill>
                <a:latin typeface="Arial"/>
                <a:ea typeface="Arial"/>
                <a:cs typeface="Arial"/>
              </a:defRPr>
            </a:pPr>
            <a:r>
              <a:rPr sz="2475" b="1">
                <a:solidFill>
                  <a:srgbClr val="10213A"/>
                </a:solidFill>
                <a:latin typeface="Arial"/>
                <a:ea typeface="Arial"/>
                <a:cs typeface="Arial"/>
              </a:rPr>
              <a:t>Next: real phone lines and caller identity verification</a:t>
            </a:r>
          </a:p>
        </p:txBody>
      </p:sp>
      <p:sp>
        <p:nvSpPr>
          <p:cNvPr id="8" name="">
            <a:extLst xmlns:a="http://schemas.openxmlformats.org/drawingml/2006/main">
              <a:ext uri="{FF2B5EF4-FFF2-40B4-BE49-F238E27FC236}">
                <a16:creationId xmlns:a16="http://schemas.microsoft.com/office/drawing/2014/main" id="{A53946D7-54D5-465C-9034-7A4E24BD0AF5}"/>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279"/>
                </a:solidFill>
                <a:latin typeface="Arial"/>
                <a:ea typeface="Arial"/>
                <a:cs typeface="Arial"/>
              </a:defRPr>
            </a:pPr>
            <a:r>
              <a:rPr sz="1875" b="0">
                <a:solidFill>
                  <a:srgbClr val="526279"/>
                </a:solidFill>
                <a:latin typeface="Arial"/>
                <a:ea typeface="Arial"/>
                <a:cs typeface="Arial"/>
              </a:rPr>
              <a:t>Later distribution: telcos and senior-living operators</a:t>
            </a:r>
          </a:p>
        </p:txBody>
      </p:sp>
    </p:spTree>
    <p:extLst>
      <p:ext uri="{BB962C8B-B14F-4D97-AF65-F5344CB8AC3E}">
        <p14:creationId xmlns:p14="http://schemas.microsoft.com/office/powerpoint/2010/main" val="1622172939"/>
      </p:ext>
    </p:extLst>
  </p:cSld>
</p:sld>
</file>

<file path=ppt/slides/slide9.xml><?xml version="1.0" encoding="utf-8"?>
<p:sld xmlns:p="http://schemas.openxmlformats.org/presentationml/2006/main">
  <p:cSld>
    <p:bg>
      <p:bgPr>
        <a:solidFill xmlns:a="http://schemas.openxmlformats.org/drawingml/2006/main">
          <a:srgbClr val="0B17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18A119-C513-4E12-8516-975199404160}"/>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7F2E8"/>
                </a:solidFill>
                <a:latin typeface="Arial"/>
                <a:ea typeface="Arial"/>
                <a:cs typeface="Arial"/>
              </a:defRPr>
            </a:pPr>
            <a:r>
              <a:rPr sz="3600" b="1">
                <a:solidFill>
                  <a:srgbClr val="F7F2E8"/>
                </a:solidFill>
                <a:latin typeface="Arial"/>
                <a:ea typeface="Arial"/>
                <a:cs typeface="Arial"/>
              </a:rPr>
              <a:t>Team Eufisky</a:t>
            </a:r>
          </a:p>
        </p:txBody>
      </p:sp>
      <p:sp>
        <p:nvSpPr>
          <p:cNvPr id="2" name="">
            <a:extLst xmlns:a="http://schemas.openxmlformats.org/drawingml/2006/main">
              <a:ext uri="{FF2B5EF4-FFF2-40B4-BE49-F238E27FC236}">
                <a16:creationId xmlns:a16="http://schemas.microsoft.com/office/drawing/2014/main" id="{DEB26412-5A87-4C21-9E53-67564A16B9BA}"/>
              </a:ext>
            </a:extLst>
          </p:cNvPr>
          <p:cNvSpPr>
            <a:spLocks xmlns:a="http://schemas.openxmlformats.org/drawingml/2006/main" noGrp="1"/>
          </p:cNvSpPr>
          <p:nvPr/>
        </p:nvSpPr>
        <p:spPr>
          <a:xfrm xmlns:a="http://schemas.openxmlformats.org/drawingml/2006/main">
            <a:off x="11144250" y="6381750"/>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9B8CA"/>
                </a:solidFill>
                <a:latin typeface="Arial"/>
                <a:ea typeface="Arial"/>
                <a:cs typeface="Arial"/>
              </a:defRPr>
            </a:pPr>
            <a:r>
              <a:rPr sz="1200" b="0">
                <a:solidFill>
                  <a:srgbClr val="A9B8CA"/>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7EC39772-4583-4CE7-8E3A-F88708A9BE50}"/>
              </a:ext>
            </a:extLst>
          </p:cNvPr>
          <p:cNvSpPr>
            <a:spLocks xmlns:a="http://schemas.openxmlformats.org/drawingml/2006/main" noGrp="1"/>
          </p:cNvSpPr>
          <p:nvPr/>
        </p:nvSpPr>
        <p:spPr>
          <a:xfrm xmlns:a="http://schemas.openxmlformats.org/drawingml/2006/main">
            <a:off x="609600" y="20669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7F2E8"/>
                </a:solidFill>
                <a:latin typeface="Arial"/>
                <a:ea typeface="Arial"/>
                <a:cs typeface="Arial"/>
              </a:defRPr>
            </a:pPr>
            <a:r>
              <a:rPr sz="5100" b="1">
                <a:solidFill>
                  <a:srgbClr val="F7F2E8"/>
                </a:solidFill>
                <a:latin typeface="Arial"/>
                <a:ea typeface="Arial"/>
                <a:cs typeface="Arial"/>
              </a:rPr>
              <a:t>A working browser demo.</a:t>
            </a:r>
          </a:p>
        </p:txBody>
      </p:sp>
      <p:sp>
        <p:nvSpPr>
          <p:cNvPr id="4" name="">
            <a:extLst xmlns:a="http://schemas.openxmlformats.org/drawingml/2006/main">
              <a:ext uri="{FF2B5EF4-FFF2-40B4-BE49-F238E27FC236}">
                <a16:creationId xmlns:a16="http://schemas.microsoft.com/office/drawing/2014/main" id="{8DD7A2A6-7275-4CB0-ADFD-69FAD7053A3A}"/>
              </a:ext>
            </a:extLst>
          </p:cNvPr>
          <p:cNvSpPr>
            <a:spLocks xmlns:a="http://schemas.openxmlformats.org/drawingml/2006/main" noGrp="1"/>
          </p:cNvSpPr>
          <p:nvPr/>
        </p:nvSpPr>
        <p:spPr>
          <a:xfrm xmlns:a="http://schemas.openxmlformats.org/drawingml/2006/main">
            <a:off x="609600" y="341947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C763"/>
                </a:solidFill>
                <a:latin typeface="Arial"/>
                <a:ea typeface="Arial"/>
                <a:cs typeface="Arial"/>
              </a:defRPr>
            </a:pPr>
            <a:r>
              <a:rPr sz="3600" b="1">
                <a:solidFill>
                  <a:srgbClr val="F2C763"/>
                </a:solidFill>
                <a:latin typeface="Arial"/>
                <a:ea typeface="Arial"/>
                <a:cs typeface="Arial"/>
              </a:rPr>
              <a:t>eufisky.onrender.com</a:t>
            </a:r>
          </a:p>
        </p:txBody>
      </p:sp>
      <p:sp>
        <p:nvSpPr>
          <p:cNvPr id="5" name="">
            <a:extLst xmlns:a="http://schemas.openxmlformats.org/drawingml/2006/main">
              <a:ext uri="{FF2B5EF4-FFF2-40B4-BE49-F238E27FC236}">
                <a16:creationId xmlns:a16="http://schemas.microsoft.com/office/drawing/2014/main" id="{12C3DA7A-D66D-4385-BCEC-017FEFE27A80}"/>
              </a:ext>
            </a:extLst>
          </p:cNvPr>
          <p:cNvSpPr>
            <a:spLocks xmlns:a="http://schemas.openxmlformats.org/drawingml/2006/main" noGrp="1"/>
          </p:cNvSpPr>
          <p:nvPr/>
        </p:nvSpPr>
        <p:spPr>
          <a:xfrm xmlns:a="http://schemas.openxmlformats.org/drawingml/2006/main">
            <a:off x="609600" y="4400550"/>
            <a:ext cx="108108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9B8CA"/>
                </a:solidFill>
                <a:latin typeface="Arial"/>
                <a:ea typeface="Arial"/>
                <a:cs typeface="Arial"/>
              </a:defRPr>
            </a:pPr>
            <a:r>
              <a:rPr sz="2175" b="0">
                <a:solidFill>
                  <a:srgbClr val="A9B8CA"/>
                </a:solidFill>
                <a:latin typeface="Arial"/>
                <a:ea typeface="Arial"/>
                <a:cs typeface="Arial"/>
              </a:rPr>
              <a:t>Choose “Try judge Replay” for the saved scenario.</a:t>
            </a:r>
          </a:p>
          <a:p xmlns:a="http://schemas.openxmlformats.org/drawingml/2006/main">
            <a:pPr>
              <a:defRPr sz="2175" b="0">
                <a:solidFill>
                  <a:srgbClr val="A9B8CA"/>
                </a:solidFill>
                <a:latin typeface="Arial"/>
                <a:ea typeface="Arial"/>
                <a:cs typeface="Arial"/>
              </a:defRPr>
            </a:pPr>
            <a:r>
              <a:rPr sz="2175" b="0">
                <a:solidFill>
                  <a:srgbClr val="A9B8CA"/>
                </a:solidFill>
                <a:latin typeface="Arial"/>
                <a:ea typeface="Arial"/>
                <a:cs typeface="Arial"/>
              </a:rPr>
              <a:t>Start a phone session to try the microphone flow.</a:t>
            </a:r>
          </a:p>
        </p:txBody>
      </p:sp>
      <p:sp>
        <p:nvSpPr>
          <p:cNvPr id="6" name="">
            <a:extLst xmlns:a="http://schemas.openxmlformats.org/drawingml/2006/main">
              <a:ext uri="{FF2B5EF4-FFF2-40B4-BE49-F238E27FC236}">
                <a16:creationId xmlns:a16="http://schemas.microsoft.com/office/drawing/2014/main" id="{CB31BA14-A85C-4AF4-B293-48D7EA085065}"/>
              </a:ext>
            </a:extLst>
          </p:cNvPr>
          <p:cNvSpPr>
            <a:spLocks xmlns:a="http://schemas.openxmlformats.org/drawingml/2006/main" noGrp="1"/>
          </p:cNvSpPr>
          <p:nvPr/>
        </p:nvSpPr>
        <p:spPr>
          <a:xfrm xmlns:a="http://schemas.openxmlformats.org/drawingml/2006/main">
            <a:off x="609600" y="57531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7F2E8"/>
                </a:solidFill>
                <a:latin typeface="Arial"/>
                <a:ea typeface="Arial"/>
                <a:cs typeface="Arial"/>
              </a:defRPr>
            </a:pPr>
            <a:r>
              <a:rPr sz="2025" b="0">
                <a:solidFill>
                  <a:srgbClr val="F7F2E8"/>
                </a:solidFill>
                <a:latin typeface="Arial"/>
                <a:ea typeface="Arial"/>
                <a:cs typeface="Arial"/>
              </a:rPr>
              <a:t>github.com/adib-cyber007/Eufisky</a:t>
            </a:r>
          </a:p>
        </p:txBody>
      </p:sp>
    </p:spTree>
    <p:extLst>
      <p:ext uri="{BB962C8B-B14F-4D97-AF65-F5344CB8AC3E}">
        <p14:creationId xmlns:p14="http://schemas.microsoft.com/office/powerpoint/2010/main" val="15159097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2026-09-30T11:32:05.7460000Z</dcterms:created>
  <dcterms:modified xsi:type="dcterms:W3CDTF">2026-09-30T11:32:05.7460000Z</dcterms:modified>
</coreProperties>
</file>